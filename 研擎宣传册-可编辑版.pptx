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A1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78000" y="-1524000"/>
            <a:ext cx="5334000" cy="5334000"/>
          </a:xfrm>
          <a:prstGeom prst="ellipse">
            <a:avLst/>
          </a:prstGeom>
          <a:solidFill>
            <a:srgbClr val="0E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26000" y="6096000"/>
            <a:ext cx="5842000" cy="5842000"/>
          </a:xfrm>
          <a:prstGeom prst="ellipse">
            <a:avLst/>
          </a:prstGeom>
          <a:solidFill>
            <a:srgbClr val="111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000" y="431800"/>
            <a:ext cx="330200" cy="330200"/>
          </a:xfrm>
          <a:prstGeom prst="roundRect">
            <a:avLst>
              <a:gd name="adj" fmla="val 22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1800"/>
            <a:ext cx="3302000" cy="330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研擎 </a:t>
            </a:r>
            <a:r>
              <a:rPr sz="1000" b="0">
                <a:solidFill>
                  <a:srgbClr val="8B94B8"/>
                </a:solidFill>
                <a:latin typeface="微软雅黑"/>
                <a:ea typeface="微软雅黑"/>
              </a:rPr>
              <a:t>NebulaLab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0" y="431800"/>
            <a:ext cx="2730500" cy="330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r"/>
            <a:r>
              <a:rPr sz="750" b="0">
                <a:solidFill>
                  <a:srgbClr val="5B6591"/>
                </a:solidFill>
                <a:latin typeface="微软雅黑"/>
                <a:ea typeface="微软雅黑"/>
              </a:rPr>
              <a:t>AI RESEARCH OS ·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5400" y="1346200"/>
            <a:ext cx="2425700" cy="279400"/>
          </a:xfrm>
          <a:prstGeom prst="roundRect">
            <a:avLst>
              <a:gd name="adj" fmla="val 50000"/>
            </a:avLst>
          </a:prstGeom>
          <a:solidFill>
            <a:srgbClr val="1F1846"/>
          </a:solidFill>
          <a:ln w="9525">
            <a:solidFill>
              <a:srgbClr val="4A3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850" b="0">
                <a:solidFill>
                  <a:srgbClr val="C9B8FF"/>
                </a:solidFill>
                <a:latin typeface="微软雅黑"/>
                <a:ea typeface="微软雅黑"/>
              </a:rPr>
              <a:t>AI 驱动的下一代科研经营体系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854200"/>
            <a:ext cx="6540500" cy="7112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让科研，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540000"/>
            <a:ext cx="6540500" cy="7112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3800" b="1">
                <a:solidFill>
                  <a:srgbClr val="8FB4FF"/>
                </a:solidFill>
                <a:latin typeface="微软雅黑"/>
                <a:ea typeface="微软雅黑"/>
              </a:rPr>
              <a:t>自己跑起来。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3327400"/>
            <a:ext cx="6540500" cy="2286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1050" b="0">
                <a:solidFill>
                  <a:srgbClr val="9FB0E8"/>
                </a:solidFill>
                <a:latin typeface="微软雅黑"/>
                <a:ea typeface="微软雅黑"/>
              </a:rPr>
              <a:t>文献 · 复现 · 写作 · 发表 · 招生 · 调度 · 经费 · 日程 —— </a:t>
            </a:r>
            <a:r>
              <a:rPr sz="1050" b="1">
                <a:solidFill>
                  <a:srgbClr val="22D3EE"/>
                </a:solidFill>
                <a:latin typeface="微软雅黑"/>
                <a:ea typeface="微软雅黑"/>
              </a:rPr>
              <a:t>AI 全程参与</a:t>
            </a:r>
          </a:p>
        </p:txBody>
      </p:sp>
      <p:sp>
        <p:nvSpPr>
          <p:cNvPr id="12" name="Oval 11"/>
          <p:cNvSpPr/>
          <p:nvPr/>
        </p:nvSpPr>
        <p:spPr>
          <a:xfrm>
            <a:off x="1873250" y="4064000"/>
            <a:ext cx="3810000" cy="3810000"/>
          </a:xfrm>
          <a:prstGeom prst="ellipse">
            <a:avLst/>
          </a:prstGeom>
          <a:noFill/>
          <a:ln w="11430">
            <a:solidFill>
              <a:srgbClr val="3949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44750" y="4635500"/>
            <a:ext cx="2667000" cy="2667000"/>
          </a:xfrm>
          <a:prstGeom prst="ellipse">
            <a:avLst/>
          </a:prstGeom>
          <a:noFill/>
          <a:ln w="10160">
            <a:solidFill>
              <a:srgbClr val="2B3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67050" y="5257800"/>
            <a:ext cx="1422400" cy="1422400"/>
          </a:xfrm>
          <a:prstGeom prst="ellipse">
            <a:avLst/>
          </a:prstGeom>
          <a:solidFill>
            <a:srgbClr val="131A4A"/>
          </a:solidFill>
          <a:ln w="15240">
            <a:solidFill>
              <a:srgbClr val="6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研擎 Claw</a:t>
            </a:r>
          </a:p>
          <a:p>
            <a:pPr algn="ctr"/>
            <a:r>
              <a:rPr sz="650" b="0">
                <a:solidFill>
                  <a:srgbClr val="9FB0E8"/>
                </a:solidFill>
                <a:latin typeface="微软雅黑"/>
                <a:ea typeface="微软雅黑"/>
              </a:rPr>
              <a:t>AI 科研智能体中枢</a:t>
            </a:r>
          </a:p>
        </p:txBody>
      </p:sp>
      <p:sp>
        <p:nvSpPr>
          <p:cNvPr id="15" name="Oval 14"/>
          <p:cNvSpPr/>
          <p:nvPr/>
        </p:nvSpPr>
        <p:spPr>
          <a:xfrm>
            <a:off x="2965450" y="5156200"/>
            <a:ext cx="1625600" cy="1625600"/>
          </a:xfrm>
          <a:prstGeom prst="ellipse">
            <a:avLst/>
          </a:prstGeom>
          <a:noFill/>
          <a:ln w="10160">
            <a:solidFill>
              <a:srgbClr val="1F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79750" y="3848100"/>
            <a:ext cx="1397000" cy="431800"/>
          </a:xfrm>
          <a:prstGeom prst="roundRect">
            <a:avLst>
              <a:gd name="adj" fmla="val 10000"/>
            </a:avLst>
          </a:prstGeom>
          <a:solidFill>
            <a:srgbClr val="0D1438"/>
          </a:solidFill>
          <a:ln w="9525">
            <a:solidFill>
              <a:srgbClr val="33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" rIns="2400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EAEEFB"/>
                </a:solidFill>
                <a:latin typeface="微软雅黑"/>
                <a:ea typeface="微软雅黑"/>
              </a:rPr>
              <a:t>🧩 </a:t>
            </a: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研擎 ERP</a:t>
            </a:r>
          </a:p>
          <a:p>
            <a:pPr algn="l"/>
            <a:r>
              <a:rPr sz="630" b="0">
                <a:solidFill>
                  <a:srgbClr val="8B94B8"/>
                </a:solidFill>
                <a:latin typeface="微软雅黑"/>
                <a:ea typeface="微软雅黑"/>
              </a:rPr>
              <a:t>科研经营的操作内核 · 十大模块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4750" y="5753100"/>
            <a:ext cx="1397000" cy="431800"/>
          </a:xfrm>
          <a:prstGeom prst="roundRect">
            <a:avLst>
              <a:gd name="adj" fmla="val 10000"/>
            </a:avLst>
          </a:prstGeom>
          <a:solidFill>
            <a:srgbClr val="0D1438"/>
          </a:solidFill>
          <a:ln w="9525">
            <a:solidFill>
              <a:srgbClr val="33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" rIns="2400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EAEEFB"/>
                </a:solidFill>
                <a:latin typeface="微软雅黑"/>
                <a:ea typeface="微软雅黑"/>
              </a:rPr>
              <a:t>🔭 </a:t>
            </a: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研擎慧眼</a:t>
            </a:r>
          </a:p>
          <a:p>
            <a:pPr algn="l"/>
            <a:r>
              <a:rPr sz="630" b="0">
                <a:solidFill>
                  <a:srgbClr val="8B94B8"/>
                </a:solidFill>
                <a:latin typeface="微软雅黑"/>
                <a:ea typeface="微软雅黑"/>
              </a:rPr>
              <a:t>文献情报 · Gap诊断 · 选题评分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79750" y="7658100"/>
            <a:ext cx="1397000" cy="431800"/>
          </a:xfrm>
          <a:prstGeom prst="roundRect">
            <a:avLst>
              <a:gd name="adj" fmla="val 10000"/>
            </a:avLst>
          </a:prstGeom>
          <a:solidFill>
            <a:srgbClr val="0D1438"/>
          </a:solidFill>
          <a:ln w="9525">
            <a:solidFill>
              <a:srgbClr val="33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" rIns="2400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EAEEFB"/>
                </a:solidFill>
                <a:latin typeface="微软雅黑"/>
                <a:ea typeface="微软雅黑"/>
              </a:rPr>
              <a:t>🎨 </a:t>
            </a: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研擎 Studio</a:t>
            </a:r>
          </a:p>
          <a:p>
            <a:pPr algn="l"/>
            <a:r>
              <a:rPr sz="630" b="0">
                <a:solidFill>
                  <a:srgbClr val="8B94B8"/>
                </a:solidFill>
                <a:latin typeface="微软雅黑"/>
                <a:ea typeface="微软雅黑"/>
              </a:rPr>
              <a:t>启航学院 · AI写作/图表/汇报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74750" y="5753100"/>
            <a:ext cx="1397000" cy="431800"/>
          </a:xfrm>
          <a:prstGeom prst="roundRect">
            <a:avLst>
              <a:gd name="adj" fmla="val 10000"/>
            </a:avLst>
          </a:prstGeom>
          <a:solidFill>
            <a:srgbClr val="0D1438"/>
          </a:solidFill>
          <a:ln w="9525">
            <a:solidFill>
              <a:srgbClr val="33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" rIns="2400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EAEEFB"/>
                </a:solidFill>
                <a:latin typeface="微软雅黑"/>
                <a:ea typeface="微软雅黑"/>
              </a:rPr>
              <a:t>🧪 </a:t>
            </a: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研擎 Lab</a:t>
            </a:r>
          </a:p>
          <a:p>
            <a:pPr algn="l"/>
            <a:r>
              <a:rPr sz="630" b="0">
                <a:solidFill>
                  <a:srgbClr val="8B94B8"/>
                </a:solidFill>
                <a:latin typeface="微软雅黑"/>
                <a:ea typeface="微软雅黑"/>
              </a:rPr>
              <a:t>零代码复现 · 云端沙箱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60850" y="4762500"/>
            <a:ext cx="1219200" cy="431800"/>
          </a:xfrm>
          <a:prstGeom prst="roundRect">
            <a:avLst>
              <a:gd name="adj" fmla="val 10000"/>
            </a:avLst>
          </a:prstGeom>
          <a:solidFill>
            <a:srgbClr val="0D1438"/>
          </a:solidFill>
          <a:ln w="9525">
            <a:solidFill>
              <a:srgbClr val="33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" rIns="2400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EAEEFB"/>
                </a:solidFill>
                <a:latin typeface="微软雅黑"/>
                <a:ea typeface="微软雅黑"/>
              </a:rPr>
              <a:t>🚀 </a:t>
            </a: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研擎投稿</a:t>
            </a:r>
          </a:p>
          <a:p>
            <a:pPr algn="l"/>
            <a:r>
              <a:rPr sz="630" b="0">
                <a:solidFill>
                  <a:srgbClr val="8B94B8"/>
                </a:solidFill>
                <a:latin typeface="微软雅黑"/>
                <a:ea typeface="微软雅黑"/>
              </a:rPr>
              <a:t>期刊诊断 · 全托管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76450" y="6743700"/>
            <a:ext cx="1219200" cy="431800"/>
          </a:xfrm>
          <a:prstGeom prst="roundRect">
            <a:avLst>
              <a:gd name="adj" fmla="val 10000"/>
            </a:avLst>
          </a:prstGeom>
          <a:solidFill>
            <a:srgbClr val="0D1438"/>
          </a:solidFill>
          <a:ln w="9525">
            <a:solidFill>
              <a:srgbClr val="33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" rIns="2400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EAEEFB"/>
                </a:solidFill>
                <a:latin typeface="微软雅黑"/>
                <a:ea typeface="微软雅黑"/>
              </a:rPr>
              <a:t>🤝 </a:t>
            </a: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研擎 Match</a:t>
            </a:r>
          </a:p>
          <a:p>
            <a:pPr algn="l"/>
            <a:r>
              <a:rPr sz="630" b="0">
                <a:solidFill>
                  <a:srgbClr val="8B94B8"/>
                </a:solidFill>
                <a:latin typeface="微软雅黑"/>
                <a:ea typeface="微软雅黑"/>
              </a:rPr>
              <a:t>师生双向匹配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000" y="8382000"/>
            <a:ext cx="6540500" cy="2286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850" b="0">
                <a:solidFill>
                  <a:srgbClr val="5B6591"/>
                </a:solidFill>
                <a:latin typeface="微软雅黑"/>
                <a:ea typeface="微软雅黑"/>
              </a:rPr>
              <a:t>面向 </a:t>
            </a:r>
            <a:r>
              <a:rPr sz="850" b="1">
                <a:solidFill>
                  <a:srgbClr val="8B94B8"/>
                </a:solidFill>
                <a:latin typeface="微软雅黑"/>
                <a:ea typeface="微软雅黑"/>
              </a:rPr>
              <a:t>高校与科研院所</a:t>
            </a:r>
            <a:r>
              <a:rPr sz="850" b="0">
                <a:solidFill>
                  <a:srgbClr val="5B6591"/>
                </a:solidFill>
                <a:latin typeface="微软雅黑"/>
                <a:ea typeface="微软雅黑"/>
              </a:rPr>
              <a:t> 的一站式 AI 科研经营平台 —— 让不同机构都能形成自己的科研竞争力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A1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78000" y="-1524000"/>
            <a:ext cx="5334000" cy="5334000"/>
          </a:xfrm>
          <a:prstGeom prst="ellipse">
            <a:avLst/>
          </a:prstGeom>
          <a:solidFill>
            <a:srgbClr val="0E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26000" y="6096000"/>
            <a:ext cx="5842000" cy="5842000"/>
          </a:xfrm>
          <a:prstGeom prst="ellipse">
            <a:avLst/>
          </a:prstGeom>
          <a:solidFill>
            <a:srgbClr val="111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000" y="431800"/>
            <a:ext cx="330200" cy="330200"/>
          </a:xfrm>
          <a:prstGeom prst="roundRect">
            <a:avLst>
              <a:gd name="adj" fmla="val 22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1800"/>
            <a:ext cx="3302000" cy="330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研擎 </a:t>
            </a:r>
            <a:r>
              <a:rPr sz="1000" b="0">
                <a:solidFill>
                  <a:srgbClr val="8B94B8"/>
                </a:solidFill>
                <a:latin typeface="微软雅黑"/>
                <a:ea typeface="微软雅黑"/>
              </a:rPr>
              <a:t>NebulaLab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0" y="431800"/>
            <a:ext cx="2730500" cy="330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r"/>
            <a:r>
              <a:rPr sz="750" b="0">
                <a:solidFill>
                  <a:srgbClr val="5B6591"/>
                </a:solidFill>
                <a:latin typeface="微软雅黑"/>
                <a:ea typeface="微软雅黑"/>
              </a:rPr>
              <a:t>RESEARCH ERP ·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863600"/>
            <a:ext cx="3810000" cy="3810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研擎 ERP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206500"/>
            <a:ext cx="3810000" cy="2032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l"/>
            <a:r>
              <a:rPr sz="1000" b="0">
                <a:solidFill>
                  <a:srgbClr val="8B94B8"/>
                </a:solidFill>
                <a:latin typeface="微软雅黑"/>
                <a:ea typeface="微软雅黑"/>
              </a:rPr>
              <a:t>科研经营的操作内核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30900" y="889000"/>
            <a:ext cx="1117600" cy="254000"/>
          </a:xfrm>
          <a:prstGeom prst="roundRect">
            <a:avLst>
              <a:gd name="adj" fmla="val 50000"/>
            </a:avLst>
          </a:prstGeom>
          <a:solidFill>
            <a:srgbClr val="0B2A33"/>
          </a:solidFill>
          <a:ln w="9525">
            <a:solidFill>
              <a:srgbClr val="1B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750" b="1">
                <a:solidFill>
                  <a:srgbClr val="22D3EE"/>
                </a:solidFill>
                <a:latin typeface="微软雅黑"/>
                <a:ea typeface="微软雅黑"/>
              </a:rPr>
              <a:t>痛点 5/6/7/8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000" y="1447800"/>
            <a:ext cx="6540500" cy="12700"/>
          </a:xfrm>
          <a:prstGeom prst="rect">
            <a:avLst/>
          </a:prstGeom>
          <a:solidFill>
            <a:srgbClr val="3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8000" y="1549400"/>
            <a:ext cx="3213100" cy="5207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00"/>
          <a:lstStyle/>
          <a:p>
            <a:pPr algn="l"/>
            <a:r>
              <a:rPr sz="1100" b="1">
                <a:solidFill>
                  <a:srgbClr val="8FB4FF"/>
                </a:solidFill>
                <a:latin typeface="微软雅黑"/>
                <a:ea typeface="微软雅黑"/>
              </a:rPr>
              <a:t>01  </a:t>
            </a:r>
            <a:r>
              <a:rPr sz="1000" b="1">
                <a:solidFill>
                  <a:srgbClr val="EAEEFB"/>
                </a:solidFill>
                <a:latin typeface="微软雅黑"/>
                <a:ea typeface="微软雅黑"/>
              </a:rPr>
              <a:t>项目管理</a:t>
            </a:r>
            <a:r>
              <a:rPr sz="680" b="0">
                <a:solidFill>
                  <a:srgbClr val="8B94B8"/>
                </a:solidFill>
                <a:latin typeface="微软雅黑"/>
                <a:ea typeface="微软雅黑"/>
              </a:rPr>
              <a:t>   申报日历 · 里程碑 · 结题自动化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35400" y="1549400"/>
            <a:ext cx="3213100" cy="5207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00"/>
          <a:lstStyle/>
          <a:p>
            <a:pPr algn="l"/>
            <a:r>
              <a:rPr sz="1100" b="1">
                <a:solidFill>
                  <a:srgbClr val="8FB4FF"/>
                </a:solidFill>
                <a:latin typeface="微软雅黑"/>
                <a:ea typeface="微软雅黑"/>
              </a:rPr>
              <a:t>02  </a:t>
            </a:r>
            <a:r>
              <a:rPr sz="1000" b="1">
                <a:solidFill>
                  <a:srgbClr val="EAEEFB"/>
                </a:solidFill>
                <a:latin typeface="微软雅黑"/>
                <a:ea typeface="微软雅黑"/>
              </a:rPr>
              <a:t>成果管理</a:t>
            </a:r>
            <a:r>
              <a:rPr sz="680" b="0">
                <a:solidFill>
                  <a:srgbClr val="8B94B8"/>
                </a:solidFill>
                <a:latin typeface="微软雅黑"/>
                <a:ea typeface="微软雅黑"/>
              </a:rPr>
              <a:t>   论文专利台账 · 学科评估归集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00" y="2146300"/>
            <a:ext cx="3213100" cy="5207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00"/>
          <a:lstStyle/>
          <a:p>
            <a:pPr algn="l"/>
            <a:r>
              <a:rPr sz="1100" b="1">
                <a:solidFill>
                  <a:srgbClr val="8FB4FF"/>
                </a:solidFill>
                <a:latin typeface="微软雅黑"/>
                <a:ea typeface="微软雅黑"/>
              </a:rPr>
              <a:t>03  </a:t>
            </a:r>
            <a:r>
              <a:rPr sz="1000" b="1">
                <a:solidFill>
                  <a:srgbClr val="EAEEFB"/>
                </a:solidFill>
                <a:latin typeface="微软雅黑"/>
                <a:ea typeface="微软雅黑"/>
              </a:rPr>
              <a:t>经费管理</a:t>
            </a:r>
            <a:r>
              <a:rPr sz="680" b="0">
                <a:solidFill>
                  <a:srgbClr val="8B94B8"/>
                </a:solidFill>
                <a:latin typeface="微软雅黑"/>
                <a:ea typeface="微软雅黑"/>
              </a:rPr>
              <a:t>   预算编制 · 执行监控 · 决算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5400" y="2146300"/>
            <a:ext cx="3213100" cy="5207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00"/>
          <a:lstStyle/>
          <a:p>
            <a:pPr algn="l"/>
            <a:r>
              <a:rPr sz="1100" b="1">
                <a:solidFill>
                  <a:srgbClr val="8FB4FF"/>
                </a:solidFill>
                <a:latin typeface="微软雅黑"/>
                <a:ea typeface="微软雅黑"/>
              </a:rPr>
              <a:t>04  </a:t>
            </a:r>
            <a:r>
              <a:rPr sz="1000" b="1">
                <a:solidFill>
                  <a:srgbClr val="EAEEFB"/>
                </a:solidFill>
                <a:latin typeface="微软雅黑"/>
                <a:ea typeface="微软雅黑"/>
              </a:rPr>
              <a:t>人员管理</a:t>
            </a:r>
            <a:r>
              <a:rPr sz="680" b="0">
                <a:solidFill>
                  <a:srgbClr val="8B94B8"/>
                </a:solidFill>
                <a:latin typeface="微软雅黑"/>
                <a:ea typeface="微软雅黑"/>
              </a:rPr>
              <a:t>   能力画像 · 成长档案 · 负载热力图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000" y="2743200"/>
            <a:ext cx="3213100" cy="5207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00"/>
          <a:lstStyle/>
          <a:p>
            <a:pPr algn="l"/>
            <a:r>
              <a:rPr sz="1100" b="1">
                <a:solidFill>
                  <a:srgbClr val="8FB4FF"/>
                </a:solidFill>
                <a:latin typeface="微软雅黑"/>
                <a:ea typeface="微软雅黑"/>
              </a:rPr>
              <a:t>05  </a:t>
            </a:r>
            <a:r>
              <a:rPr sz="1000" b="1">
                <a:solidFill>
                  <a:srgbClr val="EAEEFB"/>
                </a:solidFill>
                <a:latin typeface="微软雅黑"/>
                <a:ea typeface="微软雅黑"/>
              </a:rPr>
              <a:t>招生管理</a:t>
            </a:r>
            <a:r>
              <a:rPr sz="680" b="0">
                <a:solidFill>
                  <a:srgbClr val="8B94B8"/>
                </a:solidFill>
                <a:latin typeface="微软雅黑"/>
                <a:ea typeface="微软雅黑"/>
              </a:rPr>
              <a:t>   套磁收件箱 · 匹配评分 · 面试联动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35400" y="2743200"/>
            <a:ext cx="3213100" cy="5207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00"/>
          <a:lstStyle/>
          <a:p>
            <a:pPr algn="l"/>
            <a:r>
              <a:rPr sz="1100" b="1">
                <a:solidFill>
                  <a:srgbClr val="8FB4FF"/>
                </a:solidFill>
                <a:latin typeface="微软雅黑"/>
                <a:ea typeface="微软雅黑"/>
              </a:rPr>
              <a:t>06  </a:t>
            </a:r>
            <a:r>
              <a:rPr sz="1000" b="1">
                <a:solidFill>
                  <a:srgbClr val="EAEEFB"/>
                </a:solidFill>
                <a:latin typeface="微软雅黑"/>
                <a:ea typeface="微软雅黑"/>
              </a:rPr>
              <a:t>日程管理</a:t>
            </a:r>
            <a:r>
              <a:rPr sz="680" b="0">
                <a:solidFill>
                  <a:srgbClr val="8B94B8"/>
                </a:solidFill>
                <a:latin typeface="微软雅黑"/>
                <a:ea typeface="微软雅黑"/>
              </a:rPr>
              <a:t>   全域日历 · 组会论坛 · 申报提醒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000" y="3340100"/>
            <a:ext cx="3213100" cy="5207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00"/>
          <a:lstStyle/>
          <a:p>
            <a:pPr algn="l"/>
            <a:r>
              <a:rPr sz="1100" b="1">
                <a:solidFill>
                  <a:srgbClr val="8FB4FF"/>
                </a:solidFill>
                <a:latin typeface="微软雅黑"/>
                <a:ea typeface="微软雅黑"/>
              </a:rPr>
              <a:t>07  </a:t>
            </a:r>
            <a:r>
              <a:rPr sz="1000" b="1">
                <a:solidFill>
                  <a:srgbClr val="EAEEFB"/>
                </a:solidFill>
                <a:latin typeface="微软雅黑"/>
                <a:ea typeface="微软雅黑"/>
              </a:rPr>
              <a:t>文献资产</a:t>
            </a:r>
            <a:r>
              <a:rPr sz="680" b="0">
                <a:solidFill>
                  <a:srgbClr val="8B94B8"/>
                </a:solidFill>
                <a:latin typeface="微软雅黑"/>
                <a:ea typeface="微软雅黑"/>
              </a:rPr>
              <a:t>   机构文献库 · 组内知识沉淀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35400" y="3340100"/>
            <a:ext cx="3213100" cy="5207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00"/>
          <a:lstStyle/>
          <a:p>
            <a:pPr algn="l"/>
            <a:r>
              <a:rPr sz="1100" b="1">
                <a:solidFill>
                  <a:srgbClr val="8FB4FF"/>
                </a:solidFill>
                <a:latin typeface="微软雅黑"/>
                <a:ea typeface="微软雅黑"/>
              </a:rPr>
              <a:t>08  </a:t>
            </a:r>
            <a:r>
              <a:rPr sz="1000" b="1">
                <a:solidFill>
                  <a:srgbClr val="EAEEFB"/>
                </a:solidFill>
                <a:latin typeface="微软雅黑"/>
                <a:ea typeface="微软雅黑"/>
              </a:rPr>
              <a:t>实验与设备</a:t>
            </a:r>
            <a:r>
              <a:rPr sz="680" b="0">
                <a:solidFill>
                  <a:srgbClr val="8B94B8"/>
                </a:solidFill>
                <a:latin typeface="微软雅黑"/>
                <a:ea typeface="微软雅黑"/>
              </a:rPr>
              <a:t>   设备预约 · 电子实验记录本 ELN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000" y="3937000"/>
            <a:ext cx="3213100" cy="5207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00"/>
          <a:lstStyle/>
          <a:p>
            <a:pPr algn="l"/>
            <a:r>
              <a:rPr sz="1100" b="1">
                <a:solidFill>
                  <a:srgbClr val="8FB4FF"/>
                </a:solidFill>
                <a:latin typeface="微软雅黑"/>
                <a:ea typeface="微软雅黑"/>
              </a:rPr>
              <a:t>09  </a:t>
            </a:r>
            <a:r>
              <a:rPr sz="1000" b="1">
                <a:solidFill>
                  <a:srgbClr val="EAEEFB"/>
                </a:solidFill>
                <a:latin typeface="微软雅黑"/>
                <a:ea typeface="微软雅黑"/>
              </a:rPr>
              <a:t>伦理与合规</a:t>
            </a:r>
            <a:r>
              <a:rPr sz="680" b="0">
                <a:solidFill>
                  <a:srgbClr val="8B94B8"/>
                </a:solidFill>
                <a:latin typeface="微软雅黑"/>
                <a:ea typeface="微软雅黑"/>
              </a:rPr>
              <a:t>   学术诚信 · AIGC 使用披露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35400" y="3937000"/>
            <a:ext cx="3213100" cy="5207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00"/>
          <a:lstStyle/>
          <a:p>
            <a:pPr algn="l"/>
            <a:r>
              <a:rPr sz="1100" b="1">
                <a:solidFill>
                  <a:srgbClr val="8FB4FF"/>
                </a:solidFill>
                <a:latin typeface="微软雅黑"/>
                <a:ea typeface="微软雅黑"/>
              </a:rPr>
              <a:t>10  </a:t>
            </a:r>
            <a:r>
              <a:rPr sz="1000" b="1">
                <a:solidFill>
                  <a:srgbClr val="EAEEFB"/>
                </a:solidFill>
                <a:latin typeface="微软雅黑"/>
                <a:ea typeface="微软雅黑"/>
              </a:rPr>
              <a:t>统计分析</a:t>
            </a:r>
            <a:r>
              <a:rPr sz="680" b="0">
                <a:solidFill>
                  <a:srgbClr val="8B94B8"/>
                </a:solidFill>
                <a:latin typeface="微软雅黑"/>
                <a:ea typeface="微软雅黑"/>
              </a:rPr>
              <a:t>   科研驾驶舱 · 三级预警支援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000" y="4724400"/>
            <a:ext cx="5080000" cy="2540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AI 科研协同：从发现到行动的闭环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000" y="5029200"/>
            <a:ext cx="1168400" cy="5334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8FB4FF"/>
                </a:solidFill>
                <a:latin typeface="微软雅黑"/>
                <a:ea typeface="微软雅黑"/>
              </a:rPr>
              <a:t>01 </a:t>
            </a:r>
            <a:r>
              <a:rPr sz="880" b="1">
                <a:solidFill>
                  <a:srgbClr val="EAEEFB"/>
                </a:solidFill>
                <a:latin typeface="微软雅黑"/>
                <a:ea typeface="微软雅黑"/>
              </a:rPr>
              <a:t>发现问题</a:t>
            </a:r>
          </a:p>
          <a:p>
            <a:pPr algn="ctr"/>
            <a:r>
              <a:rPr sz="600" b="0">
                <a:solidFill>
                  <a:srgbClr val="8B94B8"/>
                </a:solidFill>
                <a:latin typeface="微软雅黑"/>
                <a:ea typeface="微软雅黑"/>
              </a:rPr>
              <a:t>信号第一时间发现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82750" y="52070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90700" y="5029200"/>
            <a:ext cx="1168400" cy="5334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8FB4FF"/>
                </a:solidFill>
                <a:latin typeface="微软雅黑"/>
                <a:ea typeface="微软雅黑"/>
              </a:rPr>
              <a:t>02 </a:t>
            </a:r>
            <a:r>
              <a:rPr sz="880" b="1">
                <a:solidFill>
                  <a:srgbClr val="EAEEFB"/>
                </a:solidFill>
                <a:latin typeface="微软雅黑"/>
                <a:ea typeface="微软雅黑"/>
              </a:rPr>
              <a:t>理解原因</a:t>
            </a:r>
          </a:p>
          <a:p>
            <a:pPr algn="ctr"/>
            <a:r>
              <a:rPr sz="600" b="0">
                <a:solidFill>
                  <a:srgbClr val="8B94B8"/>
                </a:solidFill>
                <a:latin typeface="微软雅黑"/>
                <a:ea typeface="微软雅黑"/>
              </a:rPr>
              <a:t>政策规律解释有据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65450" y="52070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73400" y="5029200"/>
            <a:ext cx="1168400" cy="5334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8FB4FF"/>
                </a:solidFill>
                <a:latin typeface="微软雅黑"/>
                <a:ea typeface="微软雅黑"/>
              </a:rPr>
              <a:t>03 </a:t>
            </a:r>
            <a:r>
              <a:rPr sz="880" b="1">
                <a:solidFill>
                  <a:srgbClr val="EAEEFB"/>
                </a:solidFill>
                <a:latin typeface="微软雅黑"/>
                <a:ea typeface="微软雅黑"/>
              </a:rPr>
              <a:t>定位对象</a:t>
            </a:r>
          </a:p>
          <a:p>
            <a:pPr algn="ctr"/>
            <a:r>
              <a:rPr sz="600" b="0">
                <a:solidFill>
                  <a:srgbClr val="8B94B8"/>
                </a:solidFill>
                <a:latin typeface="微软雅黑"/>
                <a:ea typeface="微软雅黑"/>
              </a:rPr>
              <a:t>精确到人钱事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8150" y="52070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6100" y="5029200"/>
            <a:ext cx="1168400" cy="5334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8FB4FF"/>
                </a:solidFill>
                <a:latin typeface="微软雅黑"/>
                <a:ea typeface="微软雅黑"/>
              </a:rPr>
              <a:t>04 </a:t>
            </a:r>
            <a:r>
              <a:rPr sz="880" b="1">
                <a:solidFill>
                  <a:srgbClr val="EAEEFB"/>
                </a:solidFill>
                <a:latin typeface="微软雅黑"/>
                <a:ea typeface="微软雅黑"/>
              </a:rPr>
              <a:t>推动处理</a:t>
            </a:r>
          </a:p>
          <a:p>
            <a:pPr algn="ctr"/>
            <a:r>
              <a:rPr sz="600" b="0">
                <a:solidFill>
                  <a:srgbClr val="8B94B8"/>
                </a:solidFill>
                <a:latin typeface="微软雅黑"/>
                <a:ea typeface="微软雅黑"/>
              </a:rPr>
              <a:t>消息直达协同跟进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0850" y="52070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38800" y="5029200"/>
            <a:ext cx="1168400" cy="5334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8FB4FF"/>
                </a:solidFill>
                <a:latin typeface="微软雅黑"/>
                <a:ea typeface="微软雅黑"/>
              </a:rPr>
              <a:t>05 </a:t>
            </a:r>
            <a:r>
              <a:rPr sz="880" b="1">
                <a:solidFill>
                  <a:srgbClr val="EAEEFB"/>
                </a:solidFill>
                <a:latin typeface="微软雅黑"/>
                <a:ea typeface="微软雅黑"/>
              </a:rPr>
              <a:t>结果反馈</a:t>
            </a:r>
          </a:p>
          <a:p>
            <a:pPr algn="ctr"/>
            <a:r>
              <a:rPr sz="600" b="0">
                <a:solidFill>
                  <a:srgbClr val="8B94B8"/>
                </a:solidFill>
                <a:latin typeface="微软雅黑"/>
                <a:ea typeface="微软雅黑"/>
              </a:rPr>
              <a:t>沉淀组内经验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8000" y="5638800"/>
            <a:ext cx="6540500" cy="1778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800" b="0">
                <a:solidFill>
                  <a:srgbClr val="9FB0E8"/>
                </a:solidFill>
                <a:latin typeface="微软雅黑"/>
                <a:ea typeface="微软雅黑"/>
              </a:rPr>
              <a:t>↻ 从「人找问题」到「问题主动找人」—— 每一轮反馈，都进入下一轮判断与协同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8000" y="5892800"/>
            <a:ext cx="2095500" cy="381000"/>
          </a:xfrm>
          <a:prstGeom prst="roundRect">
            <a:avLst>
              <a:gd name="adj" fmla="val 10000"/>
            </a:avLst>
          </a:prstGeom>
          <a:solidFill>
            <a:srgbClr val="141E4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8FB4FF"/>
                </a:solidFill>
                <a:latin typeface="微软雅黑"/>
                <a:ea typeface="微软雅黑"/>
              </a:rPr>
              <a:t>看得清  </a:t>
            </a:r>
            <a:r>
              <a:rPr sz="650" b="0">
                <a:solidFill>
                  <a:srgbClr val="8B94B8"/>
                </a:solidFill>
                <a:latin typeface="微软雅黑"/>
                <a:ea typeface="微软雅黑"/>
              </a:rPr>
              <a:t>关键科研信号一屏尽览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05100" y="5892800"/>
            <a:ext cx="2095500" cy="381000"/>
          </a:xfrm>
          <a:prstGeom prst="roundRect">
            <a:avLst>
              <a:gd name="adj" fmla="val 10000"/>
            </a:avLst>
          </a:prstGeom>
          <a:solidFill>
            <a:srgbClr val="141E4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8FB4FF"/>
                </a:solidFill>
                <a:latin typeface="微软雅黑"/>
                <a:ea typeface="微软雅黑"/>
              </a:rPr>
              <a:t>算得准  </a:t>
            </a:r>
            <a:r>
              <a:rPr sz="650" b="0">
                <a:solidFill>
                  <a:srgbClr val="8B94B8"/>
                </a:solidFill>
                <a:latin typeface="微软雅黑"/>
                <a:ea typeface="微软雅黑"/>
              </a:rPr>
              <a:t>政策规则内置解释有据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02200" y="5892800"/>
            <a:ext cx="2095500" cy="381000"/>
          </a:xfrm>
          <a:prstGeom prst="roundRect">
            <a:avLst>
              <a:gd name="adj" fmla="val 10000"/>
            </a:avLst>
          </a:prstGeom>
          <a:solidFill>
            <a:srgbClr val="141E4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8FB4FF"/>
                </a:solidFill>
                <a:latin typeface="微软雅黑"/>
                <a:ea typeface="微软雅黑"/>
              </a:rPr>
              <a:t>动得快  </a:t>
            </a:r>
            <a:r>
              <a:rPr sz="650" b="0">
                <a:solidFill>
                  <a:srgbClr val="8B94B8"/>
                </a:solidFill>
                <a:latin typeface="微软雅黑"/>
                <a:ea typeface="微软雅黑"/>
              </a:rPr>
              <a:t>定位人事钱行动闭环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8000" y="6578600"/>
            <a:ext cx="6350000" cy="2540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研擎 Studio</a:t>
            </a:r>
            <a:r>
              <a:rPr sz="850" b="0">
                <a:solidFill>
                  <a:srgbClr val="8B94B8"/>
                </a:solidFill>
                <a:latin typeface="微软雅黑"/>
                <a:ea typeface="微软雅黑"/>
              </a:rPr>
              <a:t>   科研启航与创作工厂 · 痛点 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8000" y="6908800"/>
            <a:ext cx="1549400" cy="5842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EAEEFB"/>
                </a:solidFill>
                <a:latin typeface="微软雅黑"/>
                <a:ea typeface="微软雅黑"/>
              </a:rPr>
              <a:t>✍️ </a:t>
            </a:r>
            <a:r>
              <a:rPr sz="900" b="1">
                <a:solidFill>
                  <a:srgbClr val="EAEEFB"/>
                </a:solidFill>
                <a:latin typeface="微软雅黑"/>
                <a:ea typeface="微软雅黑"/>
              </a:rPr>
              <a:t>AI 写作</a:t>
            </a:r>
          </a:p>
          <a:p>
            <a:pPr algn="ctr"/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IMRaD 逐节辅导润色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71700" y="6908800"/>
            <a:ext cx="1549400" cy="5842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EAEEFB"/>
                </a:solidFill>
                <a:latin typeface="微软雅黑"/>
                <a:ea typeface="微软雅黑"/>
              </a:rPr>
              <a:t>📊 </a:t>
            </a:r>
            <a:r>
              <a:rPr sz="900" b="1">
                <a:solidFill>
                  <a:srgbClr val="EAEEFB"/>
                </a:solidFill>
                <a:latin typeface="微软雅黑"/>
                <a:ea typeface="微软雅黑"/>
              </a:rPr>
              <a:t>AI 图表</a:t>
            </a:r>
          </a:p>
          <a:p>
            <a:pPr algn="ctr"/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机制图/数据图 · 期刊规范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35400" y="6908800"/>
            <a:ext cx="1549400" cy="5842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EAEEFB"/>
                </a:solidFill>
                <a:latin typeface="微软雅黑"/>
                <a:ea typeface="微软雅黑"/>
              </a:rPr>
              <a:t>🌐 </a:t>
            </a:r>
            <a:r>
              <a:rPr sz="900" b="1">
                <a:solidFill>
                  <a:srgbClr val="EAEEFB"/>
                </a:solidFill>
                <a:latin typeface="微软雅黑"/>
                <a:ea typeface="微软雅黑"/>
              </a:rPr>
              <a:t>AI 翻译</a:t>
            </a:r>
          </a:p>
          <a:p>
            <a:pPr algn="ctr"/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学术中英互译 · 术语一致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99100" y="6908800"/>
            <a:ext cx="1549400" cy="5842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EAEEFB"/>
                </a:solidFill>
                <a:latin typeface="微软雅黑"/>
                <a:ea typeface="微软雅黑"/>
              </a:rPr>
              <a:t>📽️ </a:t>
            </a:r>
            <a:r>
              <a:rPr sz="900" b="1">
                <a:solidFill>
                  <a:srgbClr val="EAEEFB"/>
                </a:solidFill>
                <a:latin typeface="微软雅黑"/>
                <a:ea typeface="微软雅黑"/>
              </a:rPr>
              <a:t>AI 汇报</a:t>
            </a:r>
          </a:p>
          <a:p>
            <a:pPr algn="ctr"/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组会PPT/会议Poster 一键生成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8000" y="7645400"/>
            <a:ext cx="1930400" cy="304800"/>
          </a:xfrm>
          <a:prstGeom prst="roundRect">
            <a:avLst>
              <a:gd name="adj" fmla="val 50000"/>
            </a:avLst>
          </a:prstGeom>
          <a:solidFill>
            <a:srgbClr val="122255"/>
          </a:solidFill>
          <a:ln w="9525">
            <a:solidFill>
              <a:srgbClr val="2B4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700" b="1">
                <a:solidFill>
                  <a:srgbClr val="BBD0FF"/>
                </a:solidFill>
                <a:latin typeface="微软雅黑"/>
                <a:ea typeface="微软雅黑"/>
              </a:rPr>
              <a:t>科研启航学院 · 12 周路线图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38400" y="76962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03500" y="7645400"/>
            <a:ext cx="1930400" cy="304800"/>
          </a:xfrm>
          <a:prstGeom prst="roundRect">
            <a:avLst>
              <a:gd name="adj" fmla="val 50000"/>
            </a:avLst>
          </a:prstGeom>
          <a:solidFill>
            <a:srgbClr val="122255"/>
          </a:solidFill>
          <a:ln w="9525">
            <a:solidFill>
              <a:srgbClr val="2B4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700" b="1">
                <a:solidFill>
                  <a:srgbClr val="BBD0FF"/>
                </a:solidFill>
                <a:latin typeface="微软雅黑"/>
                <a:ea typeface="微软雅黑"/>
              </a:rPr>
              <a:t>工具选型百科 · 按场景给答案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33900" y="76962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99000" y="7645400"/>
            <a:ext cx="1930400" cy="304800"/>
          </a:xfrm>
          <a:prstGeom prst="roundRect">
            <a:avLst>
              <a:gd name="adj" fmla="val 50000"/>
            </a:avLst>
          </a:prstGeom>
          <a:solidFill>
            <a:srgbClr val="122255"/>
          </a:solidFill>
          <a:ln w="9525">
            <a:solidFill>
              <a:srgbClr val="2B4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700" b="1">
                <a:solidFill>
                  <a:srgbClr val="BBD0FF"/>
                </a:solidFill>
                <a:latin typeface="微软雅黑"/>
                <a:ea typeface="微软雅黑"/>
              </a:rPr>
              <a:t>学术规范课 · 从第一天养成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8000" y="8051800"/>
            <a:ext cx="1117600" cy="304800"/>
          </a:xfrm>
          <a:prstGeom prst="roundRect">
            <a:avLst>
              <a:gd name="adj" fmla="val 50000"/>
            </a:avLst>
          </a:prstGeom>
          <a:solidFill>
            <a:srgbClr val="2A1440"/>
          </a:solidFill>
          <a:ln w="9525">
            <a:solidFill>
              <a:srgbClr val="6B3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700" b="1">
                <a:solidFill>
                  <a:srgbClr val="F5C2FF"/>
                </a:solidFill>
                <a:latin typeface="微软雅黑"/>
                <a:ea typeface="微软雅黑"/>
              </a:rPr>
              <a:t>01 一组数据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25600" y="81026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790700" y="8051800"/>
            <a:ext cx="1117600" cy="304800"/>
          </a:xfrm>
          <a:prstGeom prst="roundRect">
            <a:avLst>
              <a:gd name="adj" fmla="val 50000"/>
            </a:avLst>
          </a:prstGeom>
          <a:solidFill>
            <a:srgbClr val="2A1440"/>
          </a:solidFill>
          <a:ln w="9525">
            <a:solidFill>
              <a:srgbClr val="6B3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700" b="1">
                <a:solidFill>
                  <a:srgbClr val="F5C2FF"/>
                </a:solidFill>
                <a:latin typeface="微软雅黑"/>
                <a:ea typeface="微软雅黑"/>
              </a:rPr>
              <a:t>02 一张图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08300" y="81026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73400" y="8051800"/>
            <a:ext cx="1117600" cy="304800"/>
          </a:xfrm>
          <a:prstGeom prst="roundRect">
            <a:avLst>
              <a:gd name="adj" fmla="val 50000"/>
            </a:avLst>
          </a:prstGeom>
          <a:solidFill>
            <a:srgbClr val="2A1440"/>
          </a:solidFill>
          <a:ln w="9525">
            <a:solidFill>
              <a:srgbClr val="6B3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700" b="1">
                <a:solidFill>
                  <a:srgbClr val="F5C2FF"/>
                </a:solidFill>
                <a:latin typeface="微软雅黑"/>
                <a:ea typeface="微软雅黑"/>
              </a:rPr>
              <a:t>03 一篇初稿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91000" y="81026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56100" y="8051800"/>
            <a:ext cx="1117600" cy="304800"/>
          </a:xfrm>
          <a:prstGeom prst="roundRect">
            <a:avLst>
              <a:gd name="adj" fmla="val 50000"/>
            </a:avLst>
          </a:prstGeom>
          <a:solidFill>
            <a:srgbClr val="2A1440"/>
          </a:solidFill>
          <a:ln w="9525">
            <a:solidFill>
              <a:srgbClr val="6B3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700" b="1">
                <a:solidFill>
                  <a:srgbClr val="F5C2FF"/>
                </a:solidFill>
                <a:latin typeface="微软雅黑"/>
                <a:ea typeface="微软雅黑"/>
              </a:rPr>
              <a:t>04 一次汇报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73700" y="81026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38800" y="8051800"/>
            <a:ext cx="1117600" cy="304800"/>
          </a:xfrm>
          <a:prstGeom prst="roundRect">
            <a:avLst>
              <a:gd name="adj" fmla="val 50000"/>
            </a:avLst>
          </a:prstGeom>
          <a:solidFill>
            <a:srgbClr val="2A1440"/>
          </a:solidFill>
          <a:ln w="9525">
            <a:solidFill>
              <a:srgbClr val="6B3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700" b="1">
                <a:solidFill>
                  <a:srgbClr val="F5C2FF"/>
                </a:solidFill>
                <a:latin typeface="微软雅黑"/>
                <a:ea typeface="微软雅黑"/>
              </a:rPr>
              <a:t>05 一份投稿件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A1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78000" y="-1524000"/>
            <a:ext cx="5334000" cy="5334000"/>
          </a:xfrm>
          <a:prstGeom prst="ellipse">
            <a:avLst/>
          </a:prstGeom>
          <a:solidFill>
            <a:srgbClr val="0E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26000" y="6096000"/>
            <a:ext cx="5842000" cy="5842000"/>
          </a:xfrm>
          <a:prstGeom prst="ellipse">
            <a:avLst/>
          </a:prstGeom>
          <a:solidFill>
            <a:srgbClr val="111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000" y="431800"/>
            <a:ext cx="330200" cy="330200"/>
          </a:xfrm>
          <a:prstGeom prst="roundRect">
            <a:avLst>
              <a:gd name="adj" fmla="val 22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1800"/>
            <a:ext cx="3302000" cy="330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研擎 </a:t>
            </a:r>
            <a:r>
              <a:rPr sz="1000" b="0">
                <a:solidFill>
                  <a:srgbClr val="8B94B8"/>
                </a:solidFill>
                <a:latin typeface="微软雅黑"/>
                <a:ea typeface="微软雅黑"/>
              </a:rPr>
              <a:t>NebulaLab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0" y="431800"/>
            <a:ext cx="2730500" cy="330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r"/>
            <a:r>
              <a:rPr sz="750" b="0">
                <a:solidFill>
                  <a:srgbClr val="5B6591"/>
                </a:solidFill>
                <a:latin typeface="微软雅黑"/>
                <a:ea typeface="微软雅黑"/>
              </a:rPr>
              <a:t>INSIGHT &amp; LAB ·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863600"/>
            <a:ext cx="3810000" cy="3810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研擎慧眼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206500"/>
            <a:ext cx="3810000" cy="2032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l"/>
            <a:r>
              <a:rPr sz="1000" b="0">
                <a:solidFill>
                  <a:srgbClr val="8B94B8"/>
                </a:solidFill>
                <a:latin typeface="微软雅黑"/>
                <a:ea typeface="微软雅黑"/>
              </a:rPr>
              <a:t>文献情报与创新发现引擎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30900" y="889000"/>
            <a:ext cx="1117600" cy="254000"/>
          </a:xfrm>
          <a:prstGeom prst="roundRect">
            <a:avLst>
              <a:gd name="adj" fmla="val 50000"/>
            </a:avLst>
          </a:prstGeom>
          <a:solidFill>
            <a:srgbClr val="0B2A33"/>
          </a:solidFill>
          <a:ln w="9525">
            <a:solidFill>
              <a:srgbClr val="1B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750" b="1">
                <a:solidFill>
                  <a:srgbClr val="22D3EE"/>
                </a:solidFill>
                <a:latin typeface="微软雅黑"/>
                <a:ea typeface="微软雅黑"/>
              </a:rPr>
              <a:t>痛点 2/4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000" y="1447800"/>
            <a:ext cx="6540500" cy="12700"/>
          </a:xfrm>
          <a:prstGeom prst="rect">
            <a:avLst/>
          </a:prstGeom>
          <a:solidFill>
            <a:srgbClr val="3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8000" y="1549400"/>
            <a:ext cx="3810000" cy="7112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0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</a:rPr>
              <a:t>01  </a:t>
            </a:r>
            <a:r>
              <a:rPr sz="950" b="1">
                <a:solidFill>
                  <a:srgbClr val="EAEEFB"/>
                </a:solidFill>
                <a:latin typeface="微软雅黑"/>
                <a:ea typeface="微软雅黑"/>
              </a:rPr>
              <a:t>Gap 诊断与机会挖掘</a:t>
            </a:r>
          </a:p>
          <a:p>
            <a:pPr algn="l"/>
            <a:r>
              <a:rPr sz="680" b="0">
                <a:solidFill>
                  <a:srgbClr val="8B94B8"/>
                </a:solidFill>
                <a:latin typeface="微软雅黑"/>
                <a:ea typeface="微软雅黑"/>
              </a:rPr>
              <a:t>方向拥挤度 · 方法空白 · 跨学科交叉机会，附数据可得性评估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000" y="2336800"/>
            <a:ext cx="3810000" cy="7112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0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</a:rPr>
              <a:t>02  </a:t>
            </a:r>
            <a:r>
              <a:rPr sz="950" b="1">
                <a:solidFill>
                  <a:srgbClr val="EAEEFB"/>
                </a:solidFill>
                <a:latin typeface="微软雅黑"/>
                <a:ea typeface="微软雅黑"/>
              </a:rPr>
              <a:t>选题—验证—追踪全自动化</a:t>
            </a:r>
          </a:p>
          <a:p>
            <a:pPr algn="l"/>
            <a:r>
              <a:rPr sz="680" b="0">
                <a:solidFill>
                  <a:srgbClr val="8B94B8"/>
                </a:solidFill>
                <a:latin typeface="微软雅黑"/>
                <a:ea typeface="微软雅黑"/>
              </a:rPr>
              <a:t>语义检索 · AI 精读卡片 · 每日情报订阅 · 五维选题评分防撞车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00" y="3124200"/>
            <a:ext cx="3810000" cy="7112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0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</a:rPr>
              <a:t>03  </a:t>
            </a:r>
            <a:r>
              <a:rPr sz="950" b="1">
                <a:solidFill>
                  <a:srgbClr val="EAEEFB"/>
                </a:solidFill>
                <a:latin typeface="微软雅黑"/>
                <a:ea typeface="微软雅黑"/>
              </a:rPr>
              <a:t>AI 自迭代闭环</a:t>
            </a:r>
          </a:p>
          <a:p>
            <a:pPr algn="l"/>
            <a:r>
              <a:rPr sz="680" b="0">
                <a:solidFill>
                  <a:srgbClr val="8B94B8"/>
                </a:solidFill>
                <a:latin typeface="微软雅黑"/>
                <a:ea typeface="微软雅黑"/>
              </a:rPr>
              <a:t>每一轮反馈进入下一轮选题与探索，越用越懂你的课题</a:t>
            </a:r>
          </a:p>
        </p:txBody>
      </p:sp>
      <p:sp>
        <p:nvSpPr>
          <p:cNvPr id="15" name="Oval 14"/>
          <p:cNvSpPr/>
          <p:nvPr/>
        </p:nvSpPr>
        <p:spPr>
          <a:xfrm>
            <a:off x="4533900" y="1765300"/>
            <a:ext cx="2667000" cy="2667000"/>
          </a:xfrm>
          <a:prstGeom prst="ellipse">
            <a:avLst/>
          </a:prstGeom>
          <a:noFill/>
          <a:ln w="19050">
            <a:solidFill>
              <a:srgbClr val="4A3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38700" y="2070100"/>
            <a:ext cx="2057400" cy="2057400"/>
          </a:xfrm>
          <a:prstGeom prst="ellipse">
            <a:avLst/>
          </a:prstGeom>
          <a:noFill/>
          <a:ln w="10160">
            <a:solidFill>
              <a:srgbClr val="1F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51500" y="1549400"/>
            <a:ext cx="431800" cy="431800"/>
          </a:xfrm>
          <a:prstGeom prst="ellipse">
            <a:avLst/>
          </a:prstGeom>
          <a:solidFill>
            <a:srgbClr val="0F1637"/>
          </a:solidFill>
          <a:ln w="12700">
            <a:solidFill>
              <a:srgbClr val="5A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0">
                <a:solidFill>
                  <a:srgbClr val="EAEEFB"/>
                </a:solidFill>
                <a:latin typeface="微软雅黑"/>
                <a:ea typeface="微软雅黑"/>
              </a:rPr>
              <a:t>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006600"/>
            <a:ext cx="762000" cy="1524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750" b="1">
                <a:solidFill>
                  <a:srgbClr val="EAEEFB"/>
                </a:solidFill>
                <a:latin typeface="微软雅黑"/>
                <a:ea typeface="微软雅黑"/>
              </a:rPr>
              <a:t>发现机会</a:t>
            </a:r>
          </a:p>
        </p:txBody>
      </p:sp>
      <p:sp>
        <p:nvSpPr>
          <p:cNvPr id="19" name="Oval 18"/>
          <p:cNvSpPr/>
          <p:nvPr/>
        </p:nvSpPr>
        <p:spPr>
          <a:xfrm>
            <a:off x="6919733" y="2470825"/>
            <a:ext cx="431800" cy="431800"/>
          </a:xfrm>
          <a:prstGeom prst="ellipse">
            <a:avLst/>
          </a:prstGeom>
          <a:solidFill>
            <a:srgbClr val="0F1637"/>
          </a:solidFill>
          <a:ln w="12700">
            <a:solidFill>
              <a:srgbClr val="5A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0">
                <a:solidFill>
                  <a:srgbClr val="EAEEFB"/>
                </a:solidFill>
                <a:latin typeface="微软雅黑"/>
                <a:ea typeface="微软雅黑"/>
              </a:rPr>
              <a:t>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4633" y="2928025"/>
            <a:ext cx="762000" cy="1524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750" b="1">
                <a:solidFill>
                  <a:srgbClr val="EAEEFB"/>
                </a:solidFill>
                <a:latin typeface="微软雅黑"/>
                <a:ea typeface="微软雅黑"/>
              </a:rPr>
              <a:t>创新验证</a:t>
            </a:r>
          </a:p>
        </p:txBody>
      </p:sp>
      <p:sp>
        <p:nvSpPr>
          <p:cNvPr id="21" name="Oval 20"/>
          <p:cNvSpPr/>
          <p:nvPr/>
        </p:nvSpPr>
        <p:spPr>
          <a:xfrm>
            <a:off x="6435311" y="3961724"/>
            <a:ext cx="431800" cy="431800"/>
          </a:xfrm>
          <a:prstGeom prst="ellipse">
            <a:avLst/>
          </a:prstGeom>
          <a:solidFill>
            <a:srgbClr val="0F1637"/>
          </a:solidFill>
          <a:ln w="12700">
            <a:solidFill>
              <a:srgbClr val="5A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0">
                <a:solidFill>
                  <a:srgbClr val="EAEEFB"/>
                </a:solidFill>
                <a:latin typeface="微软雅黑"/>
                <a:ea typeface="微软雅黑"/>
              </a:rPr>
              <a:t>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0211" y="4418924"/>
            <a:ext cx="762000" cy="1524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750" b="1">
                <a:solidFill>
                  <a:srgbClr val="EAEEFB"/>
                </a:solidFill>
                <a:latin typeface="微软雅黑"/>
                <a:ea typeface="微软雅黑"/>
              </a:rPr>
              <a:t>成果产出</a:t>
            </a:r>
          </a:p>
        </p:txBody>
      </p:sp>
      <p:sp>
        <p:nvSpPr>
          <p:cNvPr id="23" name="Oval 22"/>
          <p:cNvSpPr/>
          <p:nvPr/>
        </p:nvSpPr>
        <p:spPr>
          <a:xfrm>
            <a:off x="4867688" y="3961724"/>
            <a:ext cx="431800" cy="431800"/>
          </a:xfrm>
          <a:prstGeom prst="ellipse">
            <a:avLst/>
          </a:prstGeom>
          <a:solidFill>
            <a:srgbClr val="0F1637"/>
          </a:solidFill>
          <a:ln w="12700">
            <a:solidFill>
              <a:srgbClr val="5A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0">
                <a:solidFill>
                  <a:srgbClr val="EAEEFB"/>
                </a:solidFill>
                <a:latin typeface="微软雅黑"/>
                <a:ea typeface="微软雅黑"/>
              </a:rPr>
              <a:t>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2588" y="4418924"/>
            <a:ext cx="762000" cy="1524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750" b="1">
                <a:solidFill>
                  <a:srgbClr val="EAEEFB"/>
                </a:solidFill>
                <a:latin typeface="微软雅黑"/>
                <a:ea typeface="微软雅黑"/>
              </a:rPr>
              <a:t>影响力扩散</a:t>
            </a:r>
          </a:p>
        </p:txBody>
      </p:sp>
      <p:sp>
        <p:nvSpPr>
          <p:cNvPr id="25" name="Oval 24"/>
          <p:cNvSpPr/>
          <p:nvPr/>
        </p:nvSpPr>
        <p:spPr>
          <a:xfrm>
            <a:off x="4383266" y="2470825"/>
            <a:ext cx="431800" cy="431800"/>
          </a:xfrm>
          <a:prstGeom prst="ellipse">
            <a:avLst/>
          </a:prstGeom>
          <a:solidFill>
            <a:srgbClr val="0F1637"/>
          </a:solidFill>
          <a:ln w="12700">
            <a:solidFill>
              <a:srgbClr val="5A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0">
                <a:solidFill>
                  <a:srgbClr val="EAEEFB"/>
                </a:solidFill>
                <a:latin typeface="微软雅黑"/>
                <a:ea typeface="微软雅黑"/>
              </a:rPr>
              <a:t>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18166" y="2928025"/>
            <a:ext cx="762000" cy="1524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750" b="1">
                <a:solidFill>
                  <a:srgbClr val="EAEEFB"/>
                </a:solidFill>
                <a:latin typeface="微软雅黑"/>
                <a:ea typeface="微软雅黑"/>
              </a:rPr>
              <a:t>迭代优化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7000" y="2870200"/>
            <a:ext cx="1320800" cy="457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科研增长飞轮</a:t>
            </a:r>
          </a:p>
          <a:p>
            <a:pPr algn="ctr"/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越转越快 · 越转越大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8000" y="4013200"/>
            <a:ext cx="1219200" cy="279400"/>
          </a:xfrm>
          <a:prstGeom prst="roundRect">
            <a:avLst>
              <a:gd name="adj" fmla="val 50000"/>
            </a:avLst>
          </a:prstGeom>
          <a:solidFill>
            <a:srgbClr val="122255"/>
          </a:solidFill>
          <a:ln w="9525">
            <a:solidFill>
              <a:srgbClr val="2B4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630" b="1">
                <a:solidFill>
                  <a:srgbClr val="BBD0FF"/>
                </a:solidFill>
                <a:latin typeface="微软雅黑"/>
                <a:ea typeface="微软雅黑"/>
              </a:rPr>
              <a:t>PDF/DOI/arXiv 一键入库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27200" y="40513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92300" y="4013200"/>
            <a:ext cx="1219200" cy="279400"/>
          </a:xfrm>
          <a:prstGeom prst="roundRect">
            <a:avLst>
              <a:gd name="adj" fmla="val 50000"/>
            </a:avLst>
          </a:prstGeom>
          <a:solidFill>
            <a:srgbClr val="122255"/>
          </a:solidFill>
          <a:ln w="9525">
            <a:solidFill>
              <a:srgbClr val="2B4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630" b="1">
                <a:solidFill>
                  <a:srgbClr val="BBD0FF"/>
                </a:solidFill>
                <a:latin typeface="微软雅黑"/>
                <a:ea typeface="微软雅黑"/>
              </a:rPr>
              <a:t>Zotero 一键迁移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11500" y="40513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4013200"/>
            <a:ext cx="1219200" cy="279400"/>
          </a:xfrm>
          <a:prstGeom prst="roundRect">
            <a:avLst>
              <a:gd name="adj" fmla="val 50000"/>
            </a:avLst>
          </a:prstGeom>
          <a:solidFill>
            <a:srgbClr val="122255"/>
          </a:solidFill>
          <a:ln w="9525">
            <a:solidFill>
              <a:srgbClr val="2B4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630" b="1">
                <a:solidFill>
                  <a:srgbClr val="BBD0FF"/>
                </a:solidFill>
                <a:latin typeface="微软雅黑"/>
                <a:ea typeface="微软雅黑"/>
              </a:rPr>
              <a:t>引用溯源到页码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8000" y="4521200"/>
            <a:ext cx="2095500" cy="431800"/>
          </a:xfrm>
          <a:prstGeom prst="roundRect">
            <a:avLst>
              <a:gd name="adj" fmla="val 10000"/>
            </a:avLst>
          </a:prstGeom>
          <a:solidFill>
            <a:srgbClr val="241E0E"/>
          </a:solidFill>
          <a:ln w="9525">
            <a:solidFill>
              <a:srgbClr val="6B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BBF24"/>
                </a:solidFill>
                <a:latin typeface="微软雅黑"/>
                <a:ea typeface="微软雅黑"/>
              </a:rPr>
              <a:t>📚 知识资产  </a:t>
            </a:r>
          </a:p>
          <a:p>
            <a:pPr algn="ctr"/>
            <a:r>
              <a:rPr sz="630" b="0">
                <a:solidFill>
                  <a:srgbClr val="8B94B8"/>
                </a:solidFill>
                <a:latin typeface="微软雅黑"/>
                <a:ea typeface="微软雅黑"/>
              </a:rPr>
              <a:t>文献库 · 实验记录 · 组会纪要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05100" y="4521200"/>
            <a:ext cx="2095500" cy="431800"/>
          </a:xfrm>
          <a:prstGeom prst="roundRect">
            <a:avLst>
              <a:gd name="adj" fmla="val 10000"/>
            </a:avLst>
          </a:prstGeom>
          <a:solidFill>
            <a:srgbClr val="241E0E"/>
          </a:solidFill>
          <a:ln w="9525">
            <a:solidFill>
              <a:srgbClr val="6B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BBF24"/>
                </a:solidFill>
                <a:latin typeface="微软雅黑"/>
                <a:ea typeface="微软雅黑"/>
              </a:rPr>
              <a:t>💾 数据资产  </a:t>
            </a:r>
          </a:p>
          <a:p>
            <a:pPr algn="ctr"/>
            <a:r>
              <a:rPr sz="630" b="0">
                <a:solidFill>
                  <a:srgbClr val="8B94B8"/>
                </a:solidFill>
                <a:latin typeface="微软雅黑"/>
                <a:ea typeface="微软雅黑"/>
              </a:rPr>
              <a:t>数据集 · 代码 · 复现模板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02200" y="4521200"/>
            <a:ext cx="2095500" cy="431800"/>
          </a:xfrm>
          <a:prstGeom prst="roundRect">
            <a:avLst>
              <a:gd name="adj" fmla="val 10000"/>
            </a:avLst>
          </a:prstGeom>
          <a:solidFill>
            <a:srgbClr val="241E0E"/>
          </a:solidFill>
          <a:ln w="9525">
            <a:solidFill>
              <a:srgbClr val="6B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BBF24"/>
                </a:solidFill>
                <a:latin typeface="微软雅黑"/>
                <a:ea typeface="微软雅黑"/>
              </a:rPr>
              <a:t>🏆 声誉资产  </a:t>
            </a:r>
          </a:p>
          <a:p>
            <a:pPr algn="ctr"/>
            <a:r>
              <a:rPr sz="630" b="0">
                <a:solidFill>
                  <a:srgbClr val="8B94B8"/>
                </a:solidFill>
                <a:latin typeface="微软雅黑"/>
                <a:ea typeface="微软雅黑"/>
              </a:rPr>
              <a:t>成果 · 学术影响 · 招生引力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8000" y="5232400"/>
            <a:ext cx="6350000" cy="2540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研擎 Lab</a:t>
            </a:r>
            <a:r>
              <a:rPr sz="850" b="0">
                <a:solidFill>
                  <a:srgbClr val="8B94B8"/>
                </a:solidFill>
                <a:latin typeface="微软雅黑"/>
                <a:ea typeface="微软雅黑"/>
              </a:rPr>
              <a:t>   零代码复现与实验引擎 · 痛点 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8000" y="5562600"/>
            <a:ext cx="2095500" cy="6096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EAEEFB"/>
                </a:solidFill>
                <a:latin typeface="微软雅黑"/>
                <a:ea typeface="微软雅黑"/>
              </a:rPr>
              <a:t>01 论文解析</a:t>
            </a:r>
          </a:p>
          <a:p>
            <a:pPr algn="ctr"/>
            <a:r>
              <a:rPr sz="630" b="0">
                <a:solidFill>
                  <a:srgbClr val="8B94B8"/>
                </a:solidFill>
                <a:latin typeface="微软雅黑"/>
                <a:ea typeface="微软雅黑"/>
              </a:rPr>
              <a:t>生成方法说明书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05100" y="5562600"/>
            <a:ext cx="2095500" cy="6096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EAEEFB"/>
                </a:solidFill>
                <a:latin typeface="微软雅黑"/>
                <a:ea typeface="微软雅黑"/>
              </a:rPr>
              <a:t>02 环境即开</a:t>
            </a:r>
          </a:p>
          <a:p>
            <a:pPr algn="ctr"/>
            <a:r>
              <a:rPr sz="630" b="0">
                <a:solidFill>
                  <a:srgbClr val="8B94B8"/>
                </a:solidFill>
                <a:latin typeface="微软雅黑"/>
                <a:ea typeface="微软雅黑"/>
              </a:rPr>
              <a:t>GPU 按需拉起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02200" y="5562600"/>
            <a:ext cx="2095500" cy="6096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EAEEFB"/>
                </a:solidFill>
                <a:latin typeface="微软雅黑"/>
                <a:ea typeface="微软雅黑"/>
              </a:rPr>
              <a:t>03 AI 结对</a:t>
            </a:r>
          </a:p>
          <a:p>
            <a:pPr algn="ctr"/>
            <a:r>
              <a:rPr sz="630" b="0">
                <a:solidFill>
                  <a:srgbClr val="8B94B8"/>
                </a:solidFill>
                <a:latin typeface="微软雅黑"/>
                <a:ea typeface="微软雅黑"/>
              </a:rPr>
              <a:t>报错自动诊断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8000" y="6248400"/>
            <a:ext cx="2095500" cy="6096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EAEEFB"/>
                </a:solidFill>
                <a:latin typeface="微软雅黑"/>
                <a:ea typeface="微软雅黑"/>
              </a:rPr>
              <a:t>04 一键复现</a:t>
            </a:r>
          </a:p>
          <a:p>
            <a:pPr algn="ctr"/>
            <a:r>
              <a:rPr sz="630" b="0">
                <a:solidFill>
                  <a:srgbClr val="8B94B8"/>
                </a:solidFill>
                <a:latin typeface="微软雅黑"/>
                <a:ea typeface="微软雅黑"/>
              </a:rPr>
              <a:t>模板库共建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05100" y="6248400"/>
            <a:ext cx="2095500" cy="6096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EAEEFB"/>
                </a:solidFill>
                <a:latin typeface="微软雅黑"/>
                <a:ea typeface="微软雅黑"/>
              </a:rPr>
              <a:t>05 实验台账</a:t>
            </a:r>
          </a:p>
          <a:p>
            <a:pPr algn="ctr"/>
            <a:r>
              <a:rPr sz="630" b="0">
                <a:solidFill>
                  <a:srgbClr val="8B94B8"/>
                </a:solidFill>
                <a:latin typeface="微软雅黑"/>
                <a:ea typeface="微软雅黑"/>
              </a:rPr>
              <a:t>自动记录可回溯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02200" y="6248400"/>
            <a:ext cx="2095500" cy="6096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EAEEFB"/>
                </a:solidFill>
                <a:latin typeface="微软雅黑"/>
                <a:ea typeface="微软雅黑"/>
              </a:rPr>
              <a:t>06 复现报告</a:t>
            </a:r>
          </a:p>
          <a:p>
            <a:pPr algn="ctr"/>
            <a:r>
              <a:rPr sz="630" b="0">
                <a:solidFill>
                  <a:srgbClr val="8B94B8"/>
                </a:solidFill>
                <a:latin typeface="微软雅黑"/>
                <a:ea typeface="微软雅黑"/>
              </a:rPr>
              <a:t>与原文对比归因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8000" y="7010400"/>
            <a:ext cx="2095500" cy="381000"/>
          </a:xfrm>
          <a:prstGeom prst="roundRect">
            <a:avLst>
              <a:gd name="adj" fmla="val 10000"/>
            </a:avLst>
          </a:prstGeom>
          <a:solidFill>
            <a:srgbClr val="141E4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8FB4FF"/>
                </a:solidFill>
                <a:latin typeface="微软雅黑"/>
                <a:ea typeface="微软雅黑"/>
              </a:rPr>
              <a:t>安全沙箱  </a:t>
            </a:r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代码隔离 · 数据不出校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05100" y="7010400"/>
            <a:ext cx="2095500" cy="381000"/>
          </a:xfrm>
          <a:prstGeom prst="roundRect">
            <a:avLst>
              <a:gd name="adj" fmla="val 10000"/>
            </a:avLst>
          </a:prstGeom>
          <a:solidFill>
            <a:srgbClr val="141E4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8FB4FF"/>
                </a:solidFill>
                <a:latin typeface="微软雅黑"/>
                <a:ea typeface="微软雅黑"/>
              </a:rPr>
              <a:t>算力调度  </a:t>
            </a:r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闲时跑复现 · 忙时让路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02200" y="7010400"/>
            <a:ext cx="2095500" cy="381000"/>
          </a:xfrm>
          <a:prstGeom prst="roundRect">
            <a:avLst>
              <a:gd name="adj" fmla="val 10000"/>
            </a:avLst>
          </a:prstGeom>
          <a:solidFill>
            <a:srgbClr val="141E4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8FB4FF"/>
                </a:solidFill>
                <a:latin typeface="微软雅黑"/>
                <a:ea typeface="微软雅黑"/>
              </a:rPr>
              <a:t>零门槛  </a:t>
            </a:r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自然语言生成代码 · 边跑边学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8000" y="7620000"/>
            <a:ext cx="6540500" cy="2032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900" b="1">
                <a:solidFill>
                  <a:srgbClr val="9FB0E8"/>
                </a:solidFill>
                <a:latin typeface="微软雅黑"/>
                <a:ea typeface="微软雅黑"/>
              </a:rPr>
              <a:t>从一篇文献，到一篇论文 —— 慧眼发现问题，Lab 验证结果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A1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78000" y="-1524000"/>
            <a:ext cx="5334000" cy="5334000"/>
          </a:xfrm>
          <a:prstGeom prst="ellipse">
            <a:avLst/>
          </a:prstGeom>
          <a:solidFill>
            <a:srgbClr val="0E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26000" y="6096000"/>
            <a:ext cx="5842000" cy="5842000"/>
          </a:xfrm>
          <a:prstGeom prst="ellipse">
            <a:avLst/>
          </a:prstGeom>
          <a:solidFill>
            <a:srgbClr val="111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000" y="431800"/>
            <a:ext cx="330200" cy="330200"/>
          </a:xfrm>
          <a:prstGeom prst="roundRect">
            <a:avLst>
              <a:gd name="adj" fmla="val 22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1800"/>
            <a:ext cx="3302000" cy="330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研擎 </a:t>
            </a:r>
            <a:r>
              <a:rPr sz="1000" b="0">
                <a:solidFill>
                  <a:srgbClr val="8B94B8"/>
                </a:solidFill>
                <a:latin typeface="微软雅黑"/>
                <a:ea typeface="微软雅黑"/>
              </a:rPr>
              <a:t>NebulaLab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0" y="431800"/>
            <a:ext cx="2730500" cy="330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r"/>
            <a:r>
              <a:rPr sz="750" b="0">
                <a:solidFill>
                  <a:srgbClr val="5B6591"/>
                </a:solidFill>
                <a:latin typeface="微软雅黑"/>
                <a:ea typeface="微软雅黑"/>
              </a:rPr>
              <a:t>PUBLISH &amp; MATCH ·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863600"/>
            <a:ext cx="3810000" cy="3810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研擎投稿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206500"/>
            <a:ext cx="3810000" cy="2032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l"/>
            <a:r>
              <a:rPr sz="1000" b="0">
                <a:solidFill>
                  <a:srgbClr val="8B94B8"/>
                </a:solidFill>
                <a:latin typeface="微软雅黑"/>
                <a:ea typeface="微软雅黑"/>
              </a:rPr>
              <a:t>智慧发表引擎 · 让发表更简单，让等待更短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30900" y="889000"/>
            <a:ext cx="1117600" cy="254000"/>
          </a:xfrm>
          <a:prstGeom prst="roundRect">
            <a:avLst>
              <a:gd name="adj" fmla="val 50000"/>
            </a:avLst>
          </a:prstGeom>
          <a:solidFill>
            <a:srgbClr val="0B2A33"/>
          </a:solidFill>
          <a:ln w="9525">
            <a:solidFill>
              <a:srgbClr val="1B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750" b="1">
                <a:solidFill>
                  <a:srgbClr val="22D3EE"/>
                </a:solidFill>
                <a:latin typeface="微软雅黑"/>
                <a:ea typeface="微软雅黑"/>
              </a:rPr>
              <a:t>痛点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000" y="1447800"/>
            <a:ext cx="6540500" cy="12700"/>
          </a:xfrm>
          <a:prstGeom prst="rect">
            <a:avLst/>
          </a:prstGeom>
          <a:solidFill>
            <a:srgbClr val="3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8000" y="1549400"/>
            <a:ext cx="1231900" cy="9906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AEEFB"/>
                </a:solidFill>
                <a:latin typeface="微软雅黑"/>
                <a:ea typeface="微软雅黑"/>
              </a:rPr>
              <a:t>🔍</a:t>
            </a:r>
            <a:r>
              <a:rPr sz="850" b="1">
                <a:solidFill>
                  <a:srgbClr val="D8C6FF"/>
                </a:solidFill>
                <a:latin typeface="微软雅黑"/>
                <a:ea typeface="微软雅黑"/>
              </a:rPr>
              <a:t>期刊全诊断</a:t>
            </a:r>
          </a:p>
          <a:p>
            <a:pPr algn="ctr"/>
            <a:r>
              <a:rPr sz="600" b="0">
                <a:solidFill>
                  <a:srgbClr val="8B94B8"/>
                </a:solidFill>
                <a:latin typeface="微软雅黑"/>
                <a:ea typeface="微软雅黑"/>
              </a:rPr>
              <a:t>范围/分区/周期/接受率五维打分，冲稳保三档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1500" y="1549400"/>
            <a:ext cx="1231900" cy="9906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AEEFB"/>
                </a:solidFill>
                <a:latin typeface="微软雅黑"/>
                <a:ea typeface="微软雅黑"/>
              </a:rPr>
              <a:t>🧠</a:t>
            </a:r>
            <a:r>
              <a:rPr sz="850" b="1">
                <a:solidFill>
                  <a:srgbClr val="D8C6FF"/>
                </a:solidFill>
                <a:latin typeface="微软雅黑"/>
                <a:ea typeface="微软雅黑"/>
              </a:rPr>
              <a:t>智能策略</a:t>
            </a:r>
          </a:p>
          <a:p>
            <a:pPr algn="ctr"/>
            <a:r>
              <a:rPr sz="600" b="0">
                <a:solidFill>
                  <a:srgbClr val="8B94B8"/>
                </a:solidFill>
                <a:latin typeface="微软雅黑"/>
                <a:ea typeface="微软雅黑"/>
              </a:rPr>
              <a:t>结合热点窗口与履历制定投稿顺序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75000" y="1549400"/>
            <a:ext cx="1231900" cy="9906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AEEFB"/>
                </a:solidFill>
                <a:latin typeface="微软雅黑"/>
                <a:ea typeface="微软雅黑"/>
              </a:rPr>
              <a:t>⚡</a:t>
            </a:r>
            <a:r>
              <a:rPr sz="850" b="1">
                <a:solidFill>
                  <a:srgbClr val="D8C6FF"/>
                </a:solidFill>
                <a:latin typeface="微软雅黑"/>
                <a:ea typeface="微软雅黑"/>
              </a:rPr>
              <a:t>自动优化</a:t>
            </a:r>
          </a:p>
          <a:p>
            <a:pPr algn="ctr"/>
            <a:r>
              <a:rPr sz="600" b="0">
                <a:solidFill>
                  <a:srgbClr val="8B94B8"/>
                </a:solidFill>
                <a:latin typeface="微软雅黑"/>
                <a:ea typeface="微软雅黑"/>
              </a:rPr>
              <a:t>模板适配 · Cover Letter · 材料核对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08500" y="1549400"/>
            <a:ext cx="1231900" cy="9906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AEEFB"/>
                </a:solidFill>
                <a:latin typeface="微软雅黑"/>
                <a:ea typeface="微软雅黑"/>
              </a:rPr>
              <a:t>⚠️</a:t>
            </a:r>
            <a:r>
              <a:rPr sz="850" b="1">
                <a:solidFill>
                  <a:srgbClr val="D8C6FF"/>
                </a:solidFill>
                <a:latin typeface="微软雅黑"/>
                <a:ea typeface="微软雅黑"/>
              </a:rPr>
              <a:t>避坑预警</a:t>
            </a:r>
          </a:p>
          <a:p>
            <a:pPr algn="ctr"/>
            <a:r>
              <a:rPr sz="600" b="0">
                <a:solidFill>
                  <a:srgbClr val="8B94B8"/>
                </a:solidFill>
                <a:latin typeface="微软雅黑"/>
                <a:ea typeface="微软雅黑"/>
              </a:rPr>
              <a:t>预警/掠夺性期刊 · 一稿多投红线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42000" y="1549400"/>
            <a:ext cx="1231900" cy="9906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AEEFB"/>
                </a:solidFill>
                <a:latin typeface="微软雅黑"/>
                <a:ea typeface="微软雅黑"/>
              </a:rPr>
              <a:t>📈</a:t>
            </a:r>
            <a:r>
              <a:rPr sz="850" b="1">
                <a:solidFill>
                  <a:srgbClr val="D8C6FF"/>
                </a:solidFill>
                <a:latin typeface="微软雅黑"/>
                <a:ea typeface="微软雅黑"/>
              </a:rPr>
              <a:t>全链路洞察</a:t>
            </a:r>
          </a:p>
          <a:p>
            <a:pPr algn="ctr"/>
            <a:r>
              <a:rPr sz="600" b="0">
                <a:solidFill>
                  <a:srgbClr val="8B94B8"/>
                </a:solidFill>
                <a:latin typeface="微软雅黑"/>
                <a:ea typeface="微软雅黑"/>
              </a:rPr>
              <a:t>审稿耗时对比中位数 · 超期催稿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2743200"/>
            <a:ext cx="6540500" cy="2032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发表六步全托管</a:t>
            </a:r>
            <a:r>
              <a:rPr sz="750" b="0">
                <a:solidFill>
                  <a:srgbClr val="8B94B8"/>
                </a:solidFill>
                <a:latin typeface="微软雅黑"/>
                <a:ea typeface="微软雅黑"/>
              </a:rPr>
              <a:t>   从成稿到见刊，全程可见可控可追踪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000" y="3048000"/>
            <a:ext cx="990600" cy="4572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1  </a:t>
            </a:r>
            <a:r>
              <a:rPr sz="850" b="1">
                <a:solidFill>
                  <a:srgbClr val="EAEEFB"/>
                </a:solidFill>
                <a:latin typeface="微软雅黑"/>
                <a:ea typeface="微软雅黑"/>
              </a:rPr>
              <a:t>成果整理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4950" y="31877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6550" y="3048000"/>
            <a:ext cx="990600" cy="4572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2  </a:t>
            </a:r>
            <a:r>
              <a:rPr sz="850" b="1">
                <a:solidFill>
                  <a:srgbClr val="EAEEFB"/>
                </a:solidFill>
                <a:latin typeface="微软雅黑"/>
                <a:ea typeface="微软雅黑"/>
              </a:rPr>
              <a:t>期刊诊断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3500" y="31877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05100" y="3048000"/>
            <a:ext cx="990600" cy="4572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3  </a:t>
            </a:r>
            <a:r>
              <a:rPr sz="850" b="1">
                <a:solidFill>
                  <a:srgbClr val="EAEEFB"/>
                </a:solidFill>
                <a:latin typeface="微软雅黑"/>
                <a:ea typeface="微软雅黑"/>
              </a:rPr>
              <a:t>开启托管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2050" y="31877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03650" y="3048000"/>
            <a:ext cx="990600" cy="4572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4  </a:t>
            </a:r>
            <a:r>
              <a:rPr sz="850" b="1">
                <a:solidFill>
                  <a:srgbClr val="EAEEFB"/>
                </a:solidFill>
                <a:latin typeface="微软雅黑"/>
                <a:ea typeface="微软雅黑"/>
              </a:rPr>
              <a:t>自动执行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31877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02200" y="3048000"/>
            <a:ext cx="990600" cy="4572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5  </a:t>
            </a:r>
            <a:r>
              <a:rPr sz="850" b="1">
                <a:solidFill>
                  <a:srgbClr val="EAEEFB"/>
                </a:solidFill>
                <a:latin typeface="微软雅黑"/>
                <a:ea typeface="微软雅黑"/>
              </a:rPr>
              <a:t>状态追踪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9150" y="31877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00750" y="3048000"/>
            <a:ext cx="990600" cy="4572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6  </a:t>
            </a:r>
            <a:r>
              <a:rPr sz="850" b="1">
                <a:solidFill>
                  <a:srgbClr val="EAEEFB"/>
                </a:solidFill>
                <a:latin typeface="微软雅黑"/>
                <a:ea typeface="微软雅黑"/>
              </a:rPr>
              <a:t>复盘转投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000" y="3835400"/>
            <a:ext cx="6350000" cy="2540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研擎 Match</a:t>
            </a:r>
            <a:r>
              <a:rPr sz="850" b="0">
                <a:solidFill>
                  <a:srgbClr val="8B94B8"/>
                </a:solidFill>
                <a:latin typeface="微软雅黑"/>
                <a:ea typeface="微软雅黑"/>
              </a:rPr>
              <a:t>   师生双向匹配引擎 · 痛点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000" y="4165600"/>
            <a:ext cx="3048000" cy="16510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00" tIns="3600"/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EAEEFB"/>
                </a:solidFill>
                <a:latin typeface="微软雅黑"/>
                <a:ea typeface="微软雅黑"/>
              </a:rPr>
              <a:t>🎓 学生端 · 让好学生被看见</a:t>
            </a:r>
          </a:p>
          <a:p>
            <a:pPr algn="l">
              <a:spcAft>
                <a:spcPts val="300"/>
              </a:spcAft>
            </a:pPr>
            <a:r>
              <a:rPr sz="750" b="1">
                <a:solidFill>
                  <a:srgbClr val="34D399"/>
                </a:solidFill>
                <a:latin typeface="微软雅黑"/>
                <a:ea typeface="微软雅黑"/>
              </a:rPr>
              <a:t>✓ </a:t>
            </a:r>
            <a:r>
              <a:rPr sz="730" b="0">
                <a:solidFill>
                  <a:srgbClr val="8B94B8"/>
                </a:solidFill>
                <a:latin typeface="微软雅黑"/>
                <a:ea typeface="微软雅黑"/>
              </a:rPr>
              <a:t>AI 套磁信教练：基于导师真实研究生成有内容的信</a:t>
            </a:r>
          </a:p>
          <a:p>
            <a:pPr algn="l">
              <a:spcAft>
                <a:spcPts val="300"/>
              </a:spcAft>
            </a:pPr>
            <a:r>
              <a:rPr sz="750" b="1">
                <a:solidFill>
                  <a:srgbClr val="34D399"/>
                </a:solidFill>
                <a:latin typeface="微软雅黑"/>
                <a:ea typeface="微软雅黑"/>
              </a:rPr>
              <a:t>✓ </a:t>
            </a:r>
            <a:r>
              <a:rPr sz="730" b="0">
                <a:solidFill>
                  <a:srgbClr val="8B94B8"/>
                </a:solidFill>
                <a:latin typeface="微软雅黑"/>
                <a:ea typeface="微软雅黑"/>
              </a:rPr>
              <a:t>科研画像：成绩·项目·技能·开源贡献结构化</a:t>
            </a:r>
          </a:p>
          <a:p>
            <a:pPr algn="l">
              <a:spcAft>
                <a:spcPts val="300"/>
              </a:spcAft>
            </a:pPr>
            <a:r>
              <a:rPr sz="750" b="1">
                <a:solidFill>
                  <a:srgbClr val="34D399"/>
                </a:solidFill>
                <a:latin typeface="微软雅黑"/>
                <a:ea typeface="微软雅黑"/>
              </a:rPr>
              <a:t>✓ </a:t>
            </a:r>
            <a:r>
              <a:rPr sz="730" b="0">
                <a:solidFill>
                  <a:srgbClr val="8B94B8"/>
                </a:solidFill>
                <a:latin typeface="微软雅黑"/>
                <a:ea typeface="微软雅黑"/>
              </a:rPr>
              <a:t>自主授权范围，隐私可控，到期自动删除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826000"/>
            <a:ext cx="381000" cy="3302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1600" b="1">
                <a:solidFill>
                  <a:srgbClr val="8B5CF6"/>
                </a:solidFill>
                <a:latin typeface="微软雅黑"/>
                <a:ea typeface="微软雅黑"/>
              </a:rPr>
              <a:t>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89400" y="4165600"/>
            <a:ext cx="2959100" cy="16510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00" tIns="3600"/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EAEEFB"/>
                </a:solidFill>
                <a:latin typeface="微软雅黑"/>
                <a:ea typeface="微软雅黑"/>
              </a:rPr>
              <a:t>👨‍🏫 导师端 · 从海量邮件到精准名单</a:t>
            </a:r>
          </a:p>
          <a:p>
            <a:pPr algn="l">
              <a:spcAft>
                <a:spcPts val="300"/>
              </a:spcAft>
            </a:pPr>
            <a:r>
              <a:rPr sz="750" b="1">
                <a:solidFill>
                  <a:srgbClr val="34D399"/>
                </a:solidFill>
                <a:latin typeface="微软雅黑"/>
                <a:ea typeface="微软雅黑"/>
              </a:rPr>
              <a:t>✓ </a:t>
            </a:r>
            <a:r>
              <a:rPr sz="730" b="0">
                <a:solidFill>
                  <a:srgbClr val="8B94B8"/>
                </a:solidFill>
                <a:latin typeface="微软雅黑"/>
                <a:ea typeface="微软雅黑"/>
              </a:rPr>
              <a:t>套磁收件箱：邮件一键解析为结构化档案</a:t>
            </a:r>
          </a:p>
          <a:p>
            <a:pPr algn="l">
              <a:spcAft>
                <a:spcPts val="300"/>
              </a:spcAft>
            </a:pPr>
            <a:r>
              <a:rPr sz="750" b="1">
                <a:solidFill>
                  <a:srgbClr val="34D399"/>
                </a:solidFill>
                <a:latin typeface="微软雅黑"/>
                <a:ea typeface="微软雅黑"/>
              </a:rPr>
              <a:t>✓ </a:t>
            </a:r>
            <a:r>
              <a:rPr sz="730" b="0">
                <a:solidFill>
                  <a:srgbClr val="8B94B8"/>
                </a:solidFill>
                <a:latin typeface="微软雅黑"/>
                <a:ea typeface="微软雅黑"/>
              </a:rPr>
              <a:t>真实性核验：论文/专利交叉验证可信度</a:t>
            </a:r>
          </a:p>
          <a:p>
            <a:pPr algn="l">
              <a:spcAft>
                <a:spcPts val="300"/>
              </a:spcAft>
            </a:pPr>
            <a:r>
              <a:rPr sz="750" b="1">
                <a:solidFill>
                  <a:srgbClr val="34D399"/>
                </a:solidFill>
                <a:latin typeface="微软雅黑"/>
                <a:ea typeface="微软雅黑"/>
              </a:rPr>
              <a:t>✓ </a:t>
            </a:r>
            <a:r>
              <a:rPr sz="730" b="0">
                <a:solidFill>
                  <a:srgbClr val="8B94B8"/>
                </a:solidFill>
                <a:latin typeface="微软雅黑"/>
                <a:ea typeface="微软雅黑"/>
              </a:rPr>
              <a:t>匹配评分：方向图谱×画像+成才数据回流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8000" y="5969000"/>
            <a:ext cx="6540500" cy="355600"/>
          </a:xfrm>
          <a:prstGeom prst="roundRect">
            <a:avLst>
              <a:gd name="adj" fmla="val 10000"/>
            </a:avLst>
          </a:prstGeom>
          <a:solidFill>
            <a:srgbClr val="0F1830"/>
          </a:solidFill>
          <a:ln w="9525">
            <a:solidFill>
              <a:srgbClr val="2B36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80" b="1">
                <a:solidFill>
                  <a:srgbClr val="9FB0E8"/>
                </a:solidFill>
                <a:latin typeface="微软雅黑"/>
                <a:ea typeface="微软雅黑"/>
              </a:rPr>
              <a:t>⚖️ 合规内建：</a:t>
            </a:r>
            <a:r>
              <a:rPr sz="780" b="0">
                <a:solidFill>
                  <a:srgbClr val="8B94B8"/>
                </a:solidFill>
                <a:latin typeface="微软雅黑"/>
                <a:ea typeface="微软雅黑"/>
              </a:rPr>
              <a:t>个保法最小化采集 · AI 只做排序与解释，录取决策永远留给导师 · 全程留痕可审计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000" y="6654800"/>
            <a:ext cx="6350000" cy="2540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深夜到清晨，科研循环不停摆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8000" y="6985000"/>
            <a:ext cx="1549400" cy="558800"/>
          </a:xfrm>
          <a:prstGeom prst="roundRect">
            <a:avLst>
              <a:gd name="adj" fmla="val 10000"/>
            </a:avLst>
          </a:prstGeom>
          <a:solidFill>
            <a:srgbClr val="10183C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22D3EE"/>
                </a:solidFill>
                <a:latin typeface="微软雅黑"/>
                <a:ea typeface="微软雅黑"/>
              </a:rPr>
              <a:t>22:00</a:t>
            </a:r>
          </a:p>
          <a:p>
            <a:pPr algn="ctr"/>
            <a:r>
              <a:rPr sz="700" b="0">
                <a:solidFill>
                  <a:srgbClr val="8B94B8"/>
                </a:solidFill>
                <a:latin typeface="微软雅黑"/>
                <a:ea typeface="微软雅黑"/>
              </a:rPr>
              <a:t>扫文献筛新论文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63750" y="71628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71700" y="6985000"/>
            <a:ext cx="1549400" cy="558800"/>
          </a:xfrm>
          <a:prstGeom prst="roundRect">
            <a:avLst>
              <a:gd name="adj" fmla="val 10000"/>
            </a:avLst>
          </a:prstGeom>
          <a:solidFill>
            <a:srgbClr val="10183C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22D3EE"/>
                </a:solidFill>
                <a:latin typeface="微软雅黑"/>
                <a:ea typeface="微软雅黑"/>
              </a:rPr>
              <a:t>01:00</a:t>
            </a:r>
          </a:p>
          <a:p>
            <a:pPr algn="ctr"/>
            <a:r>
              <a:rPr sz="700" b="0">
                <a:solidFill>
                  <a:srgbClr val="8B94B8"/>
                </a:solidFill>
                <a:latin typeface="微软雅黑"/>
                <a:ea typeface="微软雅黑"/>
              </a:rPr>
              <a:t>沙箱跑复现实验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27450" y="71628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35400" y="6985000"/>
            <a:ext cx="1549400" cy="558800"/>
          </a:xfrm>
          <a:prstGeom prst="roundRect">
            <a:avLst>
              <a:gd name="adj" fmla="val 10000"/>
            </a:avLst>
          </a:prstGeom>
          <a:solidFill>
            <a:srgbClr val="10183C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22D3EE"/>
                </a:solidFill>
                <a:latin typeface="微软雅黑"/>
                <a:ea typeface="微软雅黑"/>
              </a:rPr>
              <a:t>05:00</a:t>
            </a:r>
          </a:p>
          <a:p>
            <a:pPr algn="ctr"/>
            <a:r>
              <a:rPr sz="700" b="0">
                <a:solidFill>
                  <a:srgbClr val="8B94B8"/>
                </a:solidFill>
                <a:latin typeface="微软雅黑"/>
                <a:ea typeface="微软雅黑"/>
              </a:rPr>
              <a:t>汇总组会材料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1150" y="71628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99100" y="6985000"/>
            <a:ext cx="1549400" cy="558800"/>
          </a:xfrm>
          <a:prstGeom prst="roundRect">
            <a:avLst>
              <a:gd name="adj" fmla="val 10000"/>
            </a:avLst>
          </a:prstGeom>
          <a:solidFill>
            <a:srgbClr val="10183C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22D3EE"/>
                </a:solidFill>
                <a:latin typeface="微软雅黑"/>
                <a:ea typeface="微软雅黑"/>
              </a:rPr>
              <a:t>07:48</a:t>
            </a:r>
          </a:p>
          <a:p>
            <a:pPr algn="ctr"/>
            <a:r>
              <a:rPr sz="700" b="0">
                <a:solidFill>
                  <a:srgbClr val="8B94B8"/>
                </a:solidFill>
                <a:latin typeface="微软雅黑"/>
                <a:ea typeface="微软雅黑"/>
              </a:rPr>
              <a:t>晨报一页纸就绪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8000" y="7721600"/>
            <a:ext cx="6540500" cy="2540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1300" b="1">
                <a:solidFill>
                  <a:srgbClr val="8FB4FF"/>
                </a:solidFill>
                <a:latin typeface="微软雅黑"/>
                <a:ea typeface="微软雅黑"/>
              </a:rPr>
              <a:t>你醒来，新进展已经发生。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A1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78000" y="-1524000"/>
            <a:ext cx="5334000" cy="5334000"/>
          </a:xfrm>
          <a:prstGeom prst="ellipse">
            <a:avLst/>
          </a:prstGeom>
          <a:solidFill>
            <a:srgbClr val="0E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26000" y="6096000"/>
            <a:ext cx="5842000" cy="5842000"/>
          </a:xfrm>
          <a:prstGeom prst="ellipse">
            <a:avLst/>
          </a:prstGeom>
          <a:solidFill>
            <a:srgbClr val="111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000" y="431800"/>
            <a:ext cx="330200" cy="330200"/>
          </a:xfrm>
          <a:prstGeom prst="roundRect">
            <a:avLst>
              <a:gd name="adj" fmla="val 22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1800"/>
            <a:ext cx="3302000" cy="330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研擎 </a:t>
            </a:r>
            <a:r>
              <a:rPr sz="1000" b="0">
                <a:solidFill>
                  <a:srgbClr val="8B94B8"/>
                </a:solidFill>
                <a:latin typeface="微软雅黑"/>
                <a:ea typeface="微软雅黑"/>
              </a:rPr>
              <a:t>NebulaLab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0" y="431800"/>
            <a:ext cx="2730500" cy="330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r"/>
            <a:r>
              <a:rPr sz="750" b="0">
                <a:solidFill>
                  <a:srgbClr val="5B6591"/>
                </a:solidFill>
                <a:latin typeface="微软雅黑"/>
                <a:ea typeface="微软雅黑"/>
              </a:rPr>
              <a:t>CLAW ·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863600"/>
            <a:ext cx="3810000" cy="3810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研擎 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206500"/>
            <a:ext cx="3810000" cy="2032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l"/>
            <a:r>
              <a:rPr sz="1000" b="0">
                <a:solidFill>
                  <a:srgbClr val="8B94B8"/>
                </a:solidFill>
                <a:latin typeface="微软雅黑"/>
                <a:ea typeface="微软雅黑"/>
              </a:rPr>
              <a:t>AI 科研智能体中枢 · 让科研自己跑起来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30900" y="889000"/>
            <a:ext cx="1117600" cy="254000"/>
          </a:xfrm>
          <a:prstGeom prst="roundRect">
            <a:avLst>
              <a:gd name="adj" fmla="val 50000"/>
            </a:avLst>
          </a:prstGeom>
          <a:solidFill>
            <a:srgbClr val="0B2A33"/>
          </a:solidFill>
          <a:ln w="9525">
            <a:solidFill>
              <a:srgbClr val="1B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750" b="1">
                <a:solidFill>
                  <a:srgbClr val="22D3EE"/>
                </a:solidFill>
                <a:latin typeface="微软雅黑"/>
                <a:ea typeface="微软雅黑"/>
              </a:rPr>
              <a:t>五大核心功能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000" y="1447800"/>
            <a:ext cx="6540500" cy="12700"/>
          </a:xfrm>
          <a:prstGeom prst="rect">
            <a:avLst/>
          </a:prstGeom>
          <a:solidFill>
            <a:srgbClr val="3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8000" y="1549400"/>
            <a:ext cx="1231900" cy="10414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AEEFB"/>
                </a:solidFill>
                <a:latin typeface="微软雅黑"/>
                <a:ea typeface="微软雅黑"/>
              </a:rPr>
              <a:t>🛠️</a:t>
            </a:r>
            <a:r>
              <a:rPr sz="800" b="1">
                <a:solidFill>
                  <a:srgbClr val="EAEEFB"/>
                </a:solidFill>
                <a:latin typeface="微软雅黑"/>
                <a:ea typeface="微软雅黑"/>
              </a:rPr>
              <a:t>01 IDE 创作中心</a:t>
            </a:r>
          </a:p>
          <a:p>
            <a:pPr algn="ctr"/>
            <a:r>
              <a:rPr sz="590" b="0">
                <a:solidFill>
                  <a:srgbClr val="8B94B8"/>
                </a:solidFill>
                <a:latin typeface="微软雅黑"/>
                <a:ea typeface="微软雅黑"/>
              </a:rPr>
              <a:t>轻应用·Agent·工作流·技能，沉淀可复用能力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1500" y="1549400"/>
            <a:ext cx="1231900" cy="10414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AEEFB"/>
                </a:solidFill>
                <a:latin typeface="微软雅黑"/>
                <a:ea typeface="微软雅黑"/>
              </a:rPr>
              <a:t>👥</a:t>
            </a:r>
            <a:r>
              <a:rPr sz="800" b="1">
                <a:solidFill>
                  <a:srgbClr val="EAEEFB"/>
                </a:solidFill>
                <a:latin typeface="微软雅黑"/>
                <a:ea typeface="微软雅黑"/>
              </a:rPr>
              <a:t>02 科研专家团队</a:t>
            </a:r>
          </a:p>
          <a:p>
            <a:pPr algn="ctr"/>
            <a:r>
              <a:rPr sz="590" b="0">
                <a:solidFill>
                  <a:srgbClr val="8B94B8"/>
                </a:solidFill>
                <a:latin typeface="微软雅黑"/>
                <a:ea typeface="微软雅黑"/>
              </a:rPr>
              <a:t>八大 Agent 按专业分工，协同推进任务落地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75000" y="1549400"/>
            <a:ext cx="1231900" cy="10414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AEEFB"/>
                </a:solidFill>
                <a:latin typeface="微软雅黑"/>
                <a:ea typeface="微软雅黑"/>
              </a:rPr>
              <a:t>🔔</a:t>
            </a:r>
            <a:r>
              <a:rPr sz="800" b="1">
                <a:solidFill>
                  <a:srgbClr val="EAEEFB"/>
                </a:solidFill>
                <a:latin typeface="微软雅黑"/>
                <a:ea typeface="微软雅黑"/>
              </a:rPr>
              <a:t>03 任务及通知</a:t>
            </a:r>
          </a:p>
          <a:p>
            <a:pPr algn="ctr"/>
            <a:r>
              <a:rPr sz="590" b="0">
                <a:solidFill>
                  <a:srgbClr val="8B94B8"/>
                </a:solidFill>
                <a:latin typeface="微软雅黑"/>
                <a:ea typeface="微软雅黑"/>
              </a:rPr>
              <a:t>进度待办异常主动送达，及时跟进结果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08500" y="1549400"/>
            <a:ext cx="1231900" cy="10414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AEEFB"/>
                </a:solidFill>
                <a:latin typeface="微软雅黑"/>
                <a:ea typeface="微软雅黑"/>
              </a:rPr>
              <a:t>🧩</a:t>
            </a:r>
            <a:r>
              <a:rPr sz="800" b="1">
                <a:solidFill>
                  <a:srgbClr val="EAEEFB"/>
                </a:solidFill>
                <a:latin typeface="微软雅黑"/>
                <a:ea typeface="微软雅黑"/>
              </a:rPr>
              <a:t>04 扩展空间</a:t>
            </a:r>
          </a:p>
          <a:p>
            <a:pPr algn="ctr"/>
            <a:r>
              <a:rPr sz="590" b="0">
                <a:solidFill>
                  <a:srgbClr val="8B94B8"/>
                </a:solidFill>
                <a:latin typeface="微软雅黑"/>
                <a:ea typeface="微软雅黑"/>
              </a:rPr>
              <a:t>技能工作流连接器按需调用，机构可自建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42000" y="1549400"/>
            <a:ext cx="1231900" cy="10414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EAEEFB"/>
                </a:solidFill>
                <a:latin typeface="微软雅黑"/>
                <a:ea typeface="微软雅黑"/>
              </a:rPr>
              <a:t>🌐</a:t>
            </a:r>
            <a:r>
              <a:rPr sz="800" b="1">
                <a:solidFill>
                  <a:srgbClr val="EAEEFB"/>
                </a:solidFill>
                <a:latin typeface="微软雅黑"/>
                <a:ea typeface="微软雅黑"/>
              </a:rPr>
              <a:t>05 科研生态</a:t>
            </a:r>
          </a:p>
          <a:p>
            <a:pPr algn="ctr"/>
            <a:r>
              <a:rPr sz="590" b="0">
                <a:solidFill>
                  <a:srgbClr val="8B94B8"/>
                </a:solidFill>
                <a:latin typeface="微软雅黑"/>
                <a:ea typeface="微软雅黑"/>
              </a:rPr>
              <a:t>连接六大产品与校内系统，落到真实动作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000" y="2794000"/>
            <a:ext cx="1549400" cy="635000"/>
          </a:xfrm>
          <a:prstGeom prst="roundRect">
            <a:avLst>
              <a:gd name="adj" fmla="val 10000"/>
            </a:avLst>
          </a:prstGeom>
          <a:solidFill>
            <a:srgbClr val="121B52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EAEEFB"/>
                </a:solidFill>
                <a:latin typeface="微软雅黑"/>
                <a:ea typeface="微软雅黑"/>
              </a:rPr>
              <a:t>🧠 </a:t>
            </a:r>
            <a:r>
              <a:rPr sz="880" b="1">
                <a:solidFill>
                  <a:srgbClr val="EAEEFB"/>
                </a:solidFill>
                <a:latin typeface="微软雅黑"/>
                <a:ea typeface="微软雅黑"/>
              </a:rPr>
              <a:t>科研大脑</a:t>
            </a:r>
          </a:p>
          <a:p>
            <a:pPr algn="ctr"/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PI副驾：统筹进度风险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71700" y="2794000"/>
            <a:ext cx="1549400" cy="635000"/>
          </a:xfrm>
          <a:prstGeom prst="roundRect">
            <a:avLst>
              <a:gd name="adj" fmla="val 10000"/>
            </a:avLst>
          </a:prstGeom>
          <a:solidFill>
            <a:srgbClr val="121B52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EAEEFB"/>
                </a:solidFill>
                <a:latin typeface="微软雅黑"/>
                <a:ea typeface="微软雅黑"/>
              </a:rPr>
              <a:t>📚 </a:t>
            </a:r>
            <a:r>
              <a:rPr sz="880" b="1">
                <a:solidFill>
                  <a:srgbClr val="EAEEFB"/>
                </a:solidFill>
                <a:latin typeface="微软雅黑"/>
                <a:ea typeface="微软雅黑"/>
              </a:rPr>
              <a:t>文献情报专家</a:t>
            </a:r>
          </a:p>
          <a:p>
            <a:pPr algn="ctr"/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情报·Gap·精读卡片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35400" y="2794000"/>
            <a:ext cx="1549400" cy="635000"/>
          </a:xfrm>
          <a:prstGeom prst="roundRect">
            <a:avLst>
              <a:gd name="adj" fmla="val 10000"/>
            </a:avLst>
          </a:prstGeom>
          <a:solidFill>
            <a:srgbClr val="121B52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EAEEFB"/>
                </a:solidFill>
                <a:latin typeface="微软雅黑"/>
                <a:ea typeface="微软雅黑"/>
              </a:rPr>
              <a:t>⚙️ </a:t>
            </a:r>
            <a:r>
              <a:rPr sz="880" b="1">
                <a:solidFill>
                  <a:srgbClr val="EAEEFB"/>
                </a:solidFill>
                <a:latin typeface="微软雅黑"/>
                <a:ea typeface="微软雅黑"/>
              </a:rPr>
              <a:t>实验复现工程师</a:t>
            </a:r>
          </a:p>
          <a:p>
            <a:pPr algn="ctr"/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解析·代码·复现报告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99100" y="2794000"/>
            <a:ext cx="1549400" cy="635000"/>
          </a:xfrm>
          <a:prstGeom prst="roundRect">
            <a:avLst>
              <a:gd name="adj" fmla="val 10000"/>
            </a:avLst>
          </a:prstGeom>
          <a:solidFill>
            <a:srgbClr val="121B52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EAEEFB"/>
                </a:solidFill>
                <a:latin typeface="微软雅黑"/>
                <a:ea typeface="微软雅黑"/>
              </a:rPr>
              <a:t>✍️ </a:t>
            </a:r>
            <a:r>
              <a:rPr sz="880" b="1">
                <a:solidFill>
                  <a:srgbClr val="EAEEFB"/>
                </a:solidFill>
                <a:latin typeface="微软雅黑"/>
                <a:ea typeface="微软雅黑"/>
              </a:rPr>
              <a:t>论文写作教练</a:t>
            </a:r>
          </a:p>
          <a:p>
            <a:pPr algn="ctr"/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辅导·润色·查重预检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8000" y="3530600"/>
            <a:ext cx="1549400" cy="635000"/>
          </a:xfrm>
          <a:prstGeom prst="roundRect">
            <a:avLst>
              <a:gd name="adj" fmla="val 10000"/>
            </a:avLst>
          </a:prstGeom>
          <a:solidFill>
            <a:srgbClr val="121B52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EAEEFB"/>
                </a:solidFill>
                <a:latin typeface="微软雅黑"/>
                <a:ea typeface="微软雅黑"/>
              </a:rPr>
              <a:t>📮 </a:t>
            </a:r>
            <a:r>
              <a:rPr sz="880" b="1">
                <a:solidFill>
                  <a:srgbClr val="EAEEFB"/>
                </a:solidFill>
                <a:latin typeface="微软雅黑"/>
                <a:ea typeface="微软雅黑"/>
              </a:rPr>
              <a:t>投稿策略顾问</a:t>
            </a:r>
          </a:p>
          <a:p>
            <a:pPr algn="ctr"/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诊断·适配·审稿响应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71700" y="3530600"/>
            <a:ext cx="1549400" cy="635000"/>
          </a:xfrm>
          <a:prstGeom prst="roundRect">
            <a:avLst>
              <a:gd name="adj" fmla="val 10000"/>
            </a:avLst>
          </a:prstGeom>
          <a:solidFill>
            <a:srgbClr val="121B52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EAEEFB"/>
                </a:solidFill>
                <a:latin typeface="微软雅黑"/>
                <a:ea typeface="微软雅黑"/>
              </a:rPr>
              <a:t>🎯 </a:t>
            </a:r>
            <a:r>
              <a:rPr sz="880" b="1">
                <a:solidFill>
                  <a:srgbClr val="EAEEFB"/>
                </a:solidFill>
                <a:latin typeface="微软雅黑"/>
                <a:ea typeface="微软雅黑"/>
              </a:rPr>
              <a:t>招生匹配官</a:t>
            </a:r>
          </a:p>
          <a:p>
            <a:pPr algn="ctr"/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套磁·核验·匹配排序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35400" y="3530600"/>
            <a:ext cx="1549400" cy="635000"/>
          </a:xfrm>
          <a:prstGeom prst="roundRect">
            <a:avLst>
              <a:gd name="adj" fmla="val 10000"/>
            </a:avLst>
          </a:prstGeom>
          <a:solidFill>
            <a:srgbClr val="121B52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EAEEFB"/>
                </a:solidFill>
                <a:latin typeface="微软雅黑"/>
                <a:ea typeface="微软雅黑"/>
              </a:rPr>
              <a:t>💰 </a:t>
            </a:r>
            <a:r>
              <a:rPr sz="880" b="1">
                <a:solidFill>
                  <a:srgbClr val="EAEEFB"/>
                </a:solidFill>
                <a:latin typeface="微软雅黑"/>
                <a:ea typeface="微软雅黑"/>
              </a:rPr>
              <a:t>经费财务专家</a:t>
            </a:r>
          </a:p>
          <a:p>
            <a:pPr algn="ctr"/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预算·预警·决算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99100" y="3530600"/>
            <a:ext cx="1549400" cy="635000"/>
          </a:xfrm>
          <a:prstGeom prst="roundRect">
            <a:avLst>
              <a:gd name="adj" fmla="val 10000"/>
            </a:avLst>
          </a:prstGeom>
          <a:solidFill>
            <a:srgbClr val="121B52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EAEEFB"/>
                </a:solidFill>
                <a:latin typeface="微软雅黑"/>
                <a:ea typeface="微软雅黑"/>
              </a:rPr>
              <a:t>📅 </a:t>
            </a:r>
            <a:r>
              <a:rPr sz="880" b="1">
                <a:solidFill>
                  <a:srgbClr val="EAEEFB"/>
                </a:solidFill>
                <a:latin typeface="微软雅黑"/>
                <a:ea typeface="微软雅黑"/>
              </a:rPr>
              <a:t>日程管家</a:t>
            </a:r>
          </a:p>
          <a:p>
            <a:pPr algn="ctr"/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排期·冲突·倒计时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4419600"/>
            <a:ext cx="5080000" cy="2286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最佳实践</a:t>
            </a:r>
            <a:r>
              <a:rPr sz="800" b="0">
                <a:solidFill>
                  <a:srgbClr val="8B94B8"/>
                </a:solidFill>
                <a:latin typeface="微软雅黑"/>
                <a:ea typeface="微软雅黑"/>
              </a:rPr>
              <a:t>   一句话，开始推进科研任务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000" y="4724400"/>
            <a:ext cx="1231900" cy="330200"/>
          </a:xfrm>
          <a:prstGeom prst="roundRect">
            <a:avLst>
              <a:gd name="adj" fmla="val 50000"/>
            </a:avLst>
          </a:prstGeom>
          <a:solidFill>
            <a:srgbClr val="122255"/>
          </a:solidFill>
          <a:ln w="9525">
            <a:solidFill>
              <a:srgbClr val="2B4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750" b="1">
                <a:solidFill>
                  <a:srgbClr val="BBD0FF"/>
                </a:solidFill>
                <a:latin typeface="微软雅黑"/>
                <a:ea typeface="微软雅黑"/>
              </a:rPr>
              <a:t>明确科研目标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46250" y="47879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41500" y="4724400"/>
            <a:ext cx="1231900" cy="330200"/>
          </a:xfrm>
          <a:prstGeom prst="roundRect">
            <a:avLst>
              <a:gd name="adj" fmla="val 50000"/>
            </a:avLst>
          </a:prstGeom>
          <a:solidFill>
            <a:srgbClr val="122255"/>
          </a:solidFill>
          <a:ln w="9525">
            <a:solidFill>
              <a:srgbClr val="2B4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750" b="1">
                <a:solidFill>
                  <a:srgbClr val="BBD0FF"/>
                </a:solidFill>
                <a:latin typeface="微软雅黑"/>
                <a:ea typeface="微软雅黑"/>
              </a:rPr>
              <a:t>拆解研究计划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79750" y="47879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75000" y="4724400"/>
            <a:ext cx="1231900" cy="330200"/>
          </a:xfrm>
          <a:prstGeom prst="roundRect">
            <a:avLst>
              <a:gd name="adj" fmla="val 50000"/>
            </a:avLst>
          </a:prstGeom>
          <a:solidFill>
            <a:srgbClr val="122255"/>
          </a:solidFill>
          <a:ln w="9525">
            <a:solidFill>
              <a:srgbClr val="2B4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750" b="1">
                <a:solidFill>
                  <a:srgbClr val="BBD0FF"/>
                </a:solidFill>
                <a:latin typeface="微软雅黑"/>
                <a:ea typeface="微软雅黑"/>
              </a:rPr>
              <a:t>多专家协同推进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3250" y="47879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08500" y="4724400"/>
            <a:ext cx="1231900" cy="330200"/>
          </a:xfrm>
          <a:prstGeom prst="roundRect">
            <a:avLst>
              <a:gd name="adj" fmla="val 50000"/>
            </a:avLst>
          </a:prstGeom>
          <a:solidFill>
            <a:srgbClr val="122255"/>
          </a:solidFill>
          <a:ln w="9525">
            <a:solidFill>
              <a:srgbClr val="2B4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750" b="1">
                <a:solidFill>
                  <a:srgbClr val="BBD0FF"/>
                </a:solidFill>
                <a:latin typeface="微软雅黑"/>
                <a:ea typeface="微软雅黑"/>
              </a:rPr>
              <a:t>调用业务系统执行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46750" y="4787900"/>
            <a:ext cx="152400" cy="203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ctr"/>
            <a:r>
              <a:rPr sz="900" b="0">
                <a:solidFill>
                  <a:srgbClr val="5B6591"/>
                </a:solidFill>
                <a:latin typeface="微软雅黑"/>
                <a:ea typeface="微软雅黑"/>
              </a:rPr>
              <a:t>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42000" y="4724400"/>
            <a:ext cx="1231900" cy="330200"/>
          </a:xfrm>
          <a:prstGeom prst="roundRect">
            <a:avLst>
              <a:gd name="adj" fmla="val 50000"/>
            </a:avLst>
          </a:prstGeom>
          <a:solidFill>
            <a:srgbClr val="122255"/>
          </a:solidFill>
          <a:ln w="9525">
            <a:solidFill>
              <a:srgbClr val="2B4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" rIns="1800" tIns="300" bIns="300"/>
          <a:lstStyle/>
          <a:p>
            <a:pPr algn="ctr"/>
            <a:r>
              <a:rPr sz="750" b="1">
                <a:solidFill>
                  <a:srgbClr val="BBD0FF"/>
                </a:solidFill>
                <a:latin typeface="微软雅黑"/>
                <a:ea typeface="微软雅黑"/>
              </a:rPr>
              <a:t>持续反馈与优化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8000" y="5283200"/>
            <a:ext cx="2095500" cy="558800"/>
          </a:xfrm>
          <a:prstGeom prst="roundRect">
            <a:avLst>
              <a:gd name="adj" fmla="val 10000"/>
            </a:avLst>
          </a:prstGeom>
          <a:solidFill>
            <a:srgbClr val="0D221C"/>
          </a:solidFill>
          <a:ln w="9525">
            <a:solidFill>
              <a:srgbClr val="1E5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880" b="1">
                <a:solidFill>
                  <a:srgbClr val="8CF2D2"/>
                </a:solidFill>
                <a:latin typeface="微软雅黑"/>
                <a:ea typeface="微软雅黑"/>
              </a:rPr>
              <a:t>AI 建议 · 人决策</a:t>
            </a:r>
          </a:p>
          <a:p>
            <a:pPr algn="ctr"/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关键决策必须人工确认，AI 给方案+依据+风险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05100" y="5283200"/>
            <a:ext cx="2095500" cy="558800"/>
          </a:xfrm>
          <a:prstGeom prst="roundRect">
            <a:avLst>
              <a:gd name="adj" fmla="val 10000"/>
            </a:avLst>
          </a:prstGeom>
          <a:solidFill>
            <a:srgbClr val="0D221C"/>
          </a:solidFill>
          <a:ln w="9525">
            <a:solidFill>
              <a:srgbClr val="1E5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880" b="1">
                <a:solidFill>
                  <a:srgbClr val="8CF2D2"/>
                </a:solidFill>
                <a:latin typeface="微软雅黑"/>
                <a:ea typeface="微软雅黑"/>
              </a:rPr>
              <a:t>结论可溯源</a:t>
            </a:r>
          </a:p>
          <a:p>
            <a:pPr algn="ctr"/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文献引用/数据来源/规则条款，杜绝无据断言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02200" y="5283200"/>
            <a:ext cx="2095500" cy="558800"/>
          </a:xfrm>
          <a:prstGeom prst="roundRect">
            <a:avLst>
              <a:gd name="adj" fmla="val 10000"/>
            </a:avLst>
          </a:prstGeom>
          <a:solidFill>
            <a:srgbClr val="0D221C"/>
          </a:solidFill>
          <a:ln w="9525">
            <a:solidFill>
              <a:srgbClr val="1E5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880" b="1">
                <a:solidFill>
                  <a:srgbClr val="8CF2D2"/>
                </a:solidFill>
                <a:latin typeface="微软雅黑"/>
                <a:ea typeface="微软雅黑"/>
              </a:rPr>
              <a:t>全程留痕</a:t>
            </a:r>
          </a:p>
          <a:p>
            <a:pPr algn="ctr"/>
            <a:r>
              <a:rPr sz="620" b="0">
                <a:solidFill>
                  <a:srgbClr val="8B94B8"/>
                </a:solidFill>
                <a:latin typeface="微软雅黑"/>
                <a:ea typeface="微软雅黑"/>
              </a:rPr>
              <a:t>AI 参与的每个环节记录日志，可审计可回溯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8000" y="6096000"/>
            <a:ext cx="6540500" cy="736600"/>
          </a:xfrm>
          <a:prstGeom prst="roundRect">
            <a:avLst>
              <a:gd name="adj" fmla="val 10000"/>
            </a:avLst>
          </a:prstGeom>
          <a:solidFill>
            <a:srgbClr val="10163A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"/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8B94B8"/>
                </a:solidFill>
                <a:latin typeface="微软雅黑"/>
                <a:ea typeface="微软雅黑"/>
              </a:rPr>
              <a:t>导师：</a:t>
            </a: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“帮我把这学期组里的项目，安排到最合适的人身上。”</a:t>
            </a:r>
          </a:p>
          <a:p>
            <a:pPr algn="l"/>
            <a:r>
              <a:rPr sz="900" b="1">
                <a:solidFill>
                  <a:srgbClr val="8B94B8"/>
                </a:solidFill>
                <a:latin typeface="微软雅黑"/>
                <a:ea typeface="微软雅黑"/>
              </a:rPr>
              <a:t>Claw：</a:t>
            </a:r>
            <a:r>
              <a:rPr sz="880" b="0">
                <a:solidFill>
                  <a:srgbClr val="9FB0E8"/>
                </a:solidFill>
                <a:latin typeface="微软雅黑"/>
                <a:ea typeface="微软雅黑"/>
              </a:rPr>
              <a:t>读取能力画像×负载×意愿 → 生成分配方案 → 您确认 → 任务自动下发成员日历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A1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78000" y="-1524000"/>
            <a:ext cx="5334000" cy="5334000"/>
          </a:xfrm>
          <a:prstGeom prst="ellipse">
            <a:avLst/>
          </a:prstGeom>
          <a:solidFill>
            <a:srgbClr val="0E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26000" y="6096000"/>
            <a:ext cx="5842000" cy="5842000"/>
          </a:xfrm>
          <a:prstGeom prst="ellipse">
            <a:avLst/>
          </a:prstGeom>
          <a:solidFill>
            <a:srgbClr val="111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000" y="431800"/>
            <a:ext cx="330200" cy="330200"/>
          </a:xfrm>
          <a:prstGeom prst="roundRect">
            <a:avLst>
              <a:gd name="adj" fmla="val 22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1800"/>
            <a:ext cx="3302000" cy="330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研擎 </a:t>
            </a:r>
            <a:r>
              <a:rPr sz="1000" b="0">
                <a:solidFill>
                  <a:srgbClr val="8B94B8"/>
                </a:solidFill>
                <a:latin typeface="微软雅黑"/>
                <a:ea typeface="微软雅黑"/>
              </a:rPr>
              <a:t>NebulaLab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0" y="431800"/>
            <a:ext cx="2730500" cy="330200"/>
          </a:xfrm>
          <a:prstGeom prst="rect">
            <a:avLst/>
          </a:prstGeom>
          <a:noFill/>
        </p:spPr>
        <p:txBody>
          <a:bodyPr wrap="square" lIns="3600" rIns="3600" tIns="0" bIns="0" anchor="ctr">
            <a:spAutoFit/>
          </a:bodyPr>
          <a:lstStyle/>
          <a:p>
            <a:pPr algn="r"/>
            <a:r>
              <a:rPr sz="750" b="0">
                <a:solidFill>
                  <a:srgbClr val="5B6591"/>
                </a:solidFill>
                <a:latin typeface="微软雅黑"/>
                <a:ea typeface="微软雅黑"/>
              </a:rPr>
              <a:t>VISION ·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524000"/>
            <a:ext cx="6540500" cy="2032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900" b="0">
                <a:solidFill>
                  <a:srgbClr val="7C86AD"/>
                </a:solidFill>
                <a:latin typeface="微软雅黑"/>
                <a:ea typeface="微软雅黑"/>
              </a:rPr>
              <a:t>A I   R E S E A R C H   ·   N E X T   G E N E R A T I O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879600"/>
            <a:ext cx="6540500" cy="3810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深入科研 · 参与决策 · 推动执行 · 走向世界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2489200"/>
            <a:ext cx="1549400" cy="10160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AEEFB"/>
                </a:solidFill>
                <a:latin typeface="微软雅黑"/>
                <a:ea typeface="微软雅黑"/>
              </a:rPr>
              <a:t>🔭</a:t>
            </a: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深入科研</a:t>
            </a:r>
          </a:p>
          <a:p>
            <a:pPr algn="ctr"/>
            <a:r>
              <a:rPr sz="650" b="0">
                <a:solidFill>
                  <a:srgbClr val="8B94B8"/>
                </a:solidFill>
                <a:latin typeface="微软雅黑"/>
                <a:ea typeface="微软雅黑"/>
              </a:rPr>
              <a:t>聚焦高校与科研院所的真实需求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71700" y="2489200"/>
            <a:ext cx="1549400" cy="10160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AEEFB"/>
                </a:solidFill>
                <a:latin typeface="微软雅黑"/>
                <a:ea typeface="微软雅黑"/>
              </a:rPr>
              <a:t>📊</a:t>
            </a: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参与决策</a:t>
            </a:r>
          </a:p>
          <a:p>
            <a:pPr algn="ctr"/>
            <a:r>
              <a:rPr sz="650" b="0">
                <a:solidFill>
                  <a:srgbClr val="8B94B8"/>
                </a:solidFill>
                <a:latin typeface="微软雅黑"/>
                <a:ea typeface="微软雅黑"/>
              </a:rPr>
              <a:t>让 AI 参与科研经营的每次决策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35400" y="2489200"/>
            <a:ext cx="1549400" cy="10160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AEEFB"/>
                </a:solidFill>
                <a:latin typeface="微软雅黑"/>
                <a:ea typeface="微软雅黑"/>
              </a:rPr>
              <a:t>⚡</a:t>
            </a: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推动执行</a:t>
            </a:r>
          </a:p>
          <a:p>
            <a:pPr algn="ctr"/>
            <a:r>
              <a:rPr sz="650" b="0">
                <a:solidFill>
                  <a:srgbClr val="8B94B8"/>
                </a:solidFill>
                <a:latin typeface="微软雅黑"/>
                <a:ea typeface="微软雅黑"/>
              </a:rPr>
              <a:t>以 AI 重构科研组织协作方式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9100" y="2489200"/>
            <a:ext cx="1549400" cy="10160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AEEFB"/>
                </a:solidFill>
                <a:latin typeface="微软雅黑"/>
                <a:ea typeface="微软雅黑"/>
              </a:rPr>
              <a:t>🌍</a:t>
            </a: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走向世界</a:t>
            </a:r>
          </a:p>
          <a:p>
            <a:pPr algn="ctr"/>
            <a:r>
              <a:rPr sz="650" b="0">
                <a:solidFill>
                  <a:srgbClr val="8B94B8"/>
                </a:solidFill>
                <a:latin typeface="微软雅黑"/>
                <a:ea typeface="微软雅黑"/>
              </a:rPr>
              <a:t>从组会到顶刊顶会被世界看见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3810000"/>
            <a:ext cx="6540500" cy="3302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1500" b="1">
                <a:solidFill>
                  <a:srgbClr val="8FB4FF"/>
                </a:solidFill>
                <a:latin typeface="微软雅黑"/>
                <a:ea typeface="微软雅黑"/>
              </a:rPr>
              <a:t>—— 助力中国科研，更上一层楼 ——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4191000"/>
            <a:ext cx="6540500" cy="1778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800" b="0">
                <a:solidFill>
                  <a:srgbClr val="8B94B8"/>
                </a:solidFill>
                <a:latin typeface="微软雅黑"/>
                <a:ea typeface="微软雅黑"/>
              </a:rPr>
              <a:t>私有化部署 · 数据不出校 · 信创适配 · 等保三级 · 学术红线内建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000" y="4724400"/>
            <a:ext cx="6540500" cy="1524000"/>
          </a:xfrm>
          <a:prstGeom prst="roundRect">
            <a:avLst>
              <a:gd name="adj" fmla="val 10000"/>
            </a:avLst>
          </a:prstGeom>
          <a:solidFill>
            <a:srgbClr val="121A3E"/>
          </a:solidFill>
          <a:ln w="9525">
            <a:solidFill>
              <a:srgbClr val="2B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tIns="5000"/>
          <a:lstStyle/>
          <a:p>
            <a:pPr algn="l">
              <a:spcAft>
                <a:spcPts val="600"/>
              </a:spcAft>
            </a:pPr>
            <a:r>
              <a:rPr sz="850" b="1">
                <a:solidFill>
                  <a:srgbClr val="7C86AD"/>
                </a:solidFill>
                <a:latin typeface="微软雅黑"/>
                <a:ea typeface="微软雅黑"/>
              </a:rPr>
              <a:t>地 址   </a:t>
            </a:r>
            <a:r>
              <a:rPr sz="1000" b="1">
                <a:solidFill>
                  <a:srgbClr val="EAEEFB"/>
                </a:solidFill>
                <a:latin typeface="微软雅黑"/>
                <a:ea typeface="微软雅黑"/>
              </a:rPr>
              <a:t>清华大学深圳国际研究生院</a:t>
            </a:r>
          </a:p>
          <a:p>
            <a:pPr algn="l">
              <a:spcAft>
                <a:spcPts val="600"/>
              </a:spcAft>
            </a:pPr>
            <a:r>
              <a:rPr sz="850" b="1">
                <a:solidFill>
                  <a:srgbClr val="7C86AD"/>
                </a:solidFill>
                <a:latin typeface="微软雅黑"/>
                <a:ea typeface="微软雅黑"/>
              </a:rPr>
              <a:t>联系人   </a:t>
            </a:r>
            <a:r>
              <a:rPr sz="1000" b="1">
                <a:solidFill>
                  <a:srgbClr val="EAEEFB"/>
                </a:solidFill>
                <a:latin typeface="微软雅黑"/>
                <a:ea typeface="微软雅黑"/>
              </a:rPr>
              <a:t>杨女士</a:t>
            </a:r>
          </a:p>
          <a:p>
            <a:pPr algn="l">
              <a:spcAft>
                <a:spcPts val="600"/>
              </a:spcAft>
            </a:pPr>
            <a:r>
              <a:rPr sz="850" b="1">
                <a:solidFill>
                  <a:srgbClr val="7C86AD"/>
                </a:solidFill>
                <a:latin typeface="微软雅黑"/>
                <a:ea typeface="微软雅黑"/>
              </a:rPr>
              <a:t>电 话   </a:t>
            </a:r>
            <a:r>
              <a:rPr sz="1000" b="1">
                <a:solidFill>
                  <a:srgbClr val="EAEEFB"/>
                </a:solidFill>
                <a:latin typeface="微软雅黑"/>
                <a:ea typeface="微软雅黑"/>
              </a:rPr>
              <a:t>198 0211 5986</a:t>
            </a:r>
          </a:p>
          <a:p>
            <a:pPr algn="l">
              <a:spcAft>
                <a:spcPts val="600"/>
              </a:spcAft>
            </a:pPr>
            <a:r>
              <a:rPr sz="850" b="1">
                <a:solidFill>
                  <a:srgbClr val="7C86AD"/>
                </a:solidFill>
                <a:latin typeface="微软雅黑"/>
                <a:ea typeface="微软雅黑"/>
              </a:rPr>
              <a:t>产 品   </a:t>
            </a:r>
            <a:r>
              <a:rPr sz="1000" b="1">
                <a:solidFill>
                  <a:srgbClr val="EAEEFB"/>
                </a:solidFill>
                <a:latin typeface="微软雅黑"/>
                <a:ea typeface="微软雅黑"/>
              </a:rPr>
              <a:t>研擎 NebulaLab · AI 驱动的下一代科研经营体系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0400" y="4978400"/>
            <a:ext cx="1016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333955"/>
                </a:solidFill>
                <a:latin typeface="微软雅黑"/>
                <a:ea typeface="微软雅黑"/>
              </a:rPr>
              <a:t>二维码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045200"/>
            <a:ext cx="1524000" cy="1524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700" b="0">
                <a:solidFill>
                  <a:srgbClr val="8B94B8"/>
                </a:solidFill>
                <a:latin typeface="微软雅黑"/>
                <a:ea typeface="微软雅黑"/>
              </a:rPr>
              <a:t>扫码申请产品演示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000" y="6502400"/>
            <a:ext cx="6540500" cy="508000"/>
          </a:xfrm>
          <a:prstGeom prst="roundRect">
            <a:avLst>
              <a:gd name="adj" fmla="val 10000"/>
            </a:avLst>
          </a:prstGeom>
          <a:solidFill>
            <a:srgbClr val="0B2A33"/>
          </a:solidFill>
          <a:ln w="9525">
            <a:solidFill>
              <a:srgbClr val="1B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22D3EE"/>
                </a:solidFill>
                <a:latin typeface="微软雅黑"/>
                <a:ea typeface="微软雅黑"/>
              </a:rPr>
              <a:t>▶ 在线演示（四种身份任选）：</a:t>
            </a:r>
            <a:r>
              <a:rPr sz="850" b="0">
                <a:solidFill>
                  <a:srgbClr val="9BE9F7"/>
                </a:solidFill>
                <a:latin typeface="微软雅黑"/>
                <a:ea typeface="微软雅黑"/>
              </a:rPr>
              <a:t>jennyyang58.github.io/AIIC-personal-product/app.html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" y="10033000"/>
            <a:ext cx="6540500" cy="152400"/>
          </a:xfrm>
          <a:prstGeom prst="rect">
            <a:avLst/>
          </a:prstGeom>
          <a:noFill/>
        </p:spPr>
        <p:txBody>
          <a:bodyPr wrap="square" lIns="3600" rIns="3600" tIns="0" bIns="0" anchor="t">
            <a:spAutoFit/>
          </a:bodyPr>
          <a:lstStyle/>
          <a:p>
            <a:pPr algn="ctr"/>
            <a:r>
              <a:rPr sz="700" b="0">
                <a:solidFill>
                  <a:srgbClr val="4B5578"/>
                </a:solidFill>
                <a:latin typeface="微软雅黑"/>
                <a:ea typeface="微软雅黑"/>
              </a:rPr>
              <a:t>© 2026 研擎 NebulaLab · AI 驱动的下一代科研经营体系 · 让科研，自己跑起来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研擎 NebulaLab · AI驱动的下一代科研经营体系（可编辑版）</dc:title>
  <dc:subject/>
  <dc:creator>研擎 NebulaLab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